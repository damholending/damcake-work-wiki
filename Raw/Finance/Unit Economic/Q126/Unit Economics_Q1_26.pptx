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3967" r:id="rId2"/>
    <p:sldId id="3964" r:id="rId3"/>
    <p:sldId id="3952" r:id="rId4"/>
    <p:sldId id="3963" r:id="rId5"/>
    <p:sldId id="3966" r:id="rId6"/>
    <p:sldId id="262" r:id="rId7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76"/>
  </p:normalViewPr>
  <p:slideViewPr>
    <p:cSldViewPr snapToGrid="0">
      <p:cViewPr varScale="1">
        <p:scale>
          <a:sx n="91" d="100"/>
          <a:sy n="91" d="100"/>
        </p:scale>
        <p:origin x="192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8C04A-798A-DB4E-BD0D-61411C229649}" type="datetimeFigureOut">
              <a:rPr lang="en-VN" smtClean="0"/>
              <a:t>5/5/26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569822-C39D-E14F-9815-AB4855534376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11438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11000-EFA5-E1A6-FB66-029C38022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16184-5A2D-11C8-4DEF-18F90F633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763C1-7CA2-9120-DDE3-5D9D7A691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83B4B-89D8-3220-9856-E643F09F7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832CB-3392-4B91-88F2-7E4776B4AFF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50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6CA24-DFCE-0EA9-0E63-5EA9F0147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03B437-1A11-A9F6-9256-A33ABE0087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DB5F2-B5DD-A81E-1523-80849503C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E18E6-25F1-BD67-054F-CF6E62468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832CB-3392-4B91-88F2-7E4776B4AFF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962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9E9B1-D9B5-F017-88E6-42986F39D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67820A-22D2-218A-2401-FC87ABA22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D8D07B-79BC-8EF8-4686-362680EE4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0F40C-586B-E8EB-34C3-BD6E3F98F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832CB-3392-4B91-88F2-7E4776B4AFF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87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3E4A6-5E83-4939-A67C-9D452BA0B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FE40B-D156-80E4-886C-633750A461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6D1F8-01C9-67B6-950F-C1ADF5C2A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6CB8A-8C27-1F9C-7910-47A32258A9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832CB-3392-4B91-88F2-7E4776B4AFF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59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1B694-37DE-DB6B-68C0-62CA6DFCC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5AF74B-96E8-B636-5CDF-7C620B423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A4684-6F36-F07F-4439-9B2384213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3B72-4364-024F-A962-D3CD4E7E8660}" type="datetimeFigureOut">
              <a:rPr lang="en-VN" smtClean="0"/>
              <a:t>5/5/26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EE511-14C5-CB26-FD81-51F832961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C4977-8C69-C19A-1B55-E961EDBC8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6AE6-066C-EC46-AA06-EA9DE4043B4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10907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00B04-251A-416F-D8AC-BB45D4868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8CB98-2526-96C3-4C3E-2E1117A50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A8C13-30B9-C53E-305E-6F75EE449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3B72-4364-024F-A962-D3CD4E7E8660}" type="datetimeFigureOut">
              <a:rPr lang="en-VN" smtClean="0"/>
              <a:t>5/5/26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37506-81F4-C8C2-5BEE-891E2F9E1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FB221-CB75-E391-4CB8-2A690FA14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6AE6-066C-EC46-AA06-EA9DE4043B4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7870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02811-C1B8-490B-CF40-E2BAA9C86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30335-5B1B-A730-5D43-57AEE4D2C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C40D4-D006-8ACF-E401-B79398E2C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3B72-4364-024F-A962-D3CD4E7E8660}" type="datetimeFigureOut">
              <a:rPr lang="en-VN" smtClean="0"/>
              <a:t>5/5/26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1FEC8-DD2D-5EBD-FF95-27378EB04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E8F99-6139-4CD7-B18C-A87385E1A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6AE6-066C-EC46-AA06-EA9DE4043B4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20722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864C5-2391-794F-AEE3-3A8CA7319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4236D-64D7-50B4-74C3-E27FD81923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5E92F7-14F0-8536-DE97-A50DB5CB0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D094F-FBC8-2381-F53D-96AE701B7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3B72-4364-024F-A962-D3CD4E7E8660}" type="datetimeFigureOut">
              <a:rPr lang="en-VN" smtClean="0"/>
              <a:t>5/5/26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C1590-553D-E275-E244-7778EFB60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E2DB0F-9256-40C0-6B4B-4D337BB2F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6AE6-066C-EC46-AA06-EA9DE4043B4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56281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31B7A-35F1-0DB4-C6B3-3982DFFFC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39F72-4615-2294-87F8-C56387970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A58B3-ADD3-DD91-93AC-C46F98932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A4A0CB-5C42-6A84-FA6D-5D08943B08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F4180A-CEC1-A99D-BA38-6A0A559D3B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802611-3D95-E944-3C80-5084E5514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3B72-4364-024F-A962-D3CD4E7E8660}" type="datetimeFigureOut">
              <a:rPr lang="en-VN" smtClean="0"/>
              <a:t>5/5/26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EEF8E-DEEF-2B5F-1DFE-FCE9E2F02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0D8F61-CD3D-FADB-DAA2-739197B86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6AE6-066C-EC46-AA06-EA9DE4043B4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929953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92E6C-C59F-F94E-6557-3CC5D24D5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734350-FC16-B8A8-040D-0C6C1C287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3B72-4364-024F-A962-D3CD4E7E8660}" type="datetimeFigureOut">
              <a:rPr lang="en-VN" smtClean="0"/>
              <a:t>5/5/26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61FA5-8D97-EF11-5B92-43C33FFDA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1149F1-3B94-2E59-C1EC-4CB7F131A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6AE6-066C-EC46-AA06-EA9DE4043B4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7493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1C7809-359D-3ADF-76CE-2D9F9340E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3B72-4364-024F-A962-D3CD4E7E8660}" type="datetimeFigureOut">
              <a:rPr lang="en-VN" smtClean="0"/>
              <a:t>5/5/26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A241AB-AEF8-1652-C50D-EEF5DCC24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EA6A6-F2DE-B722-694E-B33AE3B7B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6AE6-066C-EC46-AA06-EA9DE4043B4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65328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7A206-EFFC-4E8A-87A1-D8F7E68E1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45BD5-30B7-CB8B-34A9-A054A09F2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ECF6A-53F5-CC28-5CD3-A040B8313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71F88-5B49-6F6C-FEAD-AE25553F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3B72-4364-024F-A962-D3CD4E7E8660}" type="datetimeFigureOut">
              <a:rPr lang="en-VN" smtClean="0"/>
              <a:t>5/5/26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37FD9-FBBF-2F6E-FBC6-B6DAC2AD1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D5E30-0E7A-73F0-DDA7-07FF12C5B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6AE6-066C-EC46-AA06-EA9DE4043B4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11853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62D6F-D31B-2DDE-205A-2D6521E3D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10FD18-5CD2-9C99-BDB8-14502A3D7F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F94D0-AB56-B699-FF0E-3434349412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82B47-9324-4F93-B151-A078B9DDC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3B72-4364-024F-A962-D3CD4E7E8660}" type="datetimeFigureOut">
              <a:rPr lang="en-VN" smtClean="0"/>
              <a:t>5/5/26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CB3AF-1034-E2BB-5B57-50F0A3E32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747AC-C3FB-89A1-667A-65A00AACD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6AE6-066C-EC46-AA06-EA9DE4043B4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06809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2C33E-E33A-45A9-3722-9DBAA60F9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CF45C4-B971-5749-1BED-B0D2A9E42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E13D9-9622-054C-C371-DF58ADFBD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3B72-4364-024F-A962-D3CD4E7E8660}" type="datetimeFigureOut">
              <a:rPr lang="en-VN" smtClean="0"/>
              <a:t>5/5/26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8815C-0002-7EDF-AF9F-AAE3835B7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8704C-445A-F9B0-2551-EED4C91D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6AE6-066C-EC46-AA06-EA9DE4043B4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6769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A75897-CD70-D56D-2F4E-22AAE824AC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57012-160C-F233-ECCB-99D91E8A8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753C2-ED83-CC51-36E0-7EEC88BA0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93B72-4364-024F-A962-D3CD4E7E8660}" type="datetimeFigureOut">
              <a:rPr lang="en-VN" smtClean="0"/>
              <a:t>5/5/26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4B257-0E7C-3B02-AD3A-1CC97882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E58F1-5FA2-A672-A4F3-7804574B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6AE6-066C-EC46-AA06-EA9DE4043B4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02317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E03E69-4EF2-2CDF-F74D-EF60BF2C3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ADEAF-DB08-286D-0F4D-CEEBF8123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6C338-179F-8B2B-DCB8-92DEE0171E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A93B72-4364-024F-A962-D3CD4E7E8660}" type="datetimeFigureOut">
              <a:rPr lang="en-VN" smtClean="0"/>
              <a:t>5/5/26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DBB0C-D651-E7DC-4DED-35DD05851B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3F788-B096-C733-C389-C70E81ED1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786AE6-066C-EC46-AA06-EA9DE4043B4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35990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ED912-133E-8876-CBE5-A1C2FCDBC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nk background with a silhouette of a person's head&#10;&#10;Description automatically generated">
            <a:extLst>
              <a:ext uri="{FF2B5EF4-FFF2-40B4-BE49-F238E27FC236}">
                <a16:creationId xmlns:a16="http://schemas.microsoft.com/office/drawing/2014/main" id="{B3FF6A11-16E4-69C1-CD64-3CDD2486D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93" y="-239268"/>
            <a:ext cx="12287385" cy="720096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4C176F-1F97-3989-BBAE-78E06E63E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dirty="0">
                <a:solidFill>
                  <a:srgbClr val="261D7A"/>
                </a:solidFill>
                <a:latin typeface="Barlow ExtraBold" panose="00000900000000000000" pitchFamily="2" charset="0"/>
              </a:rPr>
              <a:t>BEF- Performance Q1/2025 – 28/4/2026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326724-9FF3-EDB6-C64F-263E6F55DC6F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231" y="2432116"/>
            <a:ext cx="948814" cy="11324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D3A0D5-514F-6369-A924-D1BA29859BE6}"/>
              </a:ext>
            </a:extLst>
          </p:cNvPr>
          <p:cNvSpPr txBox="1"/>
          <p:nvPr/>
        </p:nvSpPr>
        <p:spPr>
          <a:xfrm>
            <a:off x="549721" y="2432116"/>
            <a:ext cx="60821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Barlow ExtraBold" panose="00000900000000000000" pitchFamily="2" charset="0"/>
              </a:rPr>
              <a:t> SAP Performance Q1.2026</a:t>
            </a:r>
          </a:p>
        </p:txBody>
      </p:sp>
    </p:spTree>
    <p:extLst>
      <p:ext uri="{BB962C8B-B14F-4D97-AF65-F5344CB8AC3E}">
        <p14:creationId xmlns:p14="http://schemas.microsoft.com/office/powerpoint/2010/main" val="137746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F75EC-2F75-D8E3-11A8-D8B6B09FA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37F149-FB59-0A4F-3A2D-9E498A256AEF}"/>
              </a:ext>
            </a:extLst>
          </p:cNvPr>
          <p:cNvSpPr/>
          <p:nvPr/>
        </p:nvSpPr>
        <p:spPr>
          <a:xfrm>
            <a:off x="0" y="0"/>
            <a:ext cx="12192000" cy="681318"/>
          </a:xfrm>
          <a:prstGeom prst="rect">
            <a:avLst/>
          </a:prstGeom>
          <a:solidFill>
            <a:srgbClr val="FF37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BCC3E2-10A9-D1C9-41AE-51A594942A24}"/>
              </a:ext>
            </a:extLst>
          </p:cNvPr>
          <p:cNvSpPr txBox="1"/>
          <p:nvPr/>
        </p:nvSpPr>
        <p:spPr>
          <a:xfrm>
            <a:off x="583302" y="48271"/>
            <a:ext cx="8408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>
                    <a:lumMod val="95000"/>
                  </a:schemeClr>
                </a:solidFill>
                <a:latin typeface="Barlow ExtraBold" panose="00000900000000000000" pitchFamily="2" charset="0"/>
              </a:rPr>
              <a:t> UPL– SAP Q1.2026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AC47295-DD3B-2F03-6FFA-B720D1B7B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>
                <a:solidFill>
                  <a:srgbClr val="261D7A"/>
                </a:solidFill>
                <a:latin typeface="Barlow ExtraBold" panose="00000900000000000000" pitchFamily="2" charset="0"/>
              </a:rPr>
              <a:t>BEF- Performance Q1.2026</a:t>
            </a:r>
          </a:p>
        </p:txBody>
      </p:sp>
      <p:pic>
        <p:nvPicPr>
          <p:cNvPr id="8" name="Picture 7" descr="A cartoon of a white monster with pink headphones&#10;&#10;Description automatically generated">
            <a:extLst>
              <a:ext uri="{FF2B5EF4-FFF2-40B4-BE49-F238E27FC236}">
                <a16:creationId xmlns:a16="http://schemas.microsoft.com/office/drawing/2014/main" id="{D7A411AE-CD51-330C-BF7A-8209795469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465" y="5988424"/>
            <a:ext cx="1341534" cy="1299882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68568E5-D2EC-E7AA-CD72-16F165BE0F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79" y="147746"/>
            <a:ext cx="385823" cy="385823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A99206E-C80A-669B-5B08-5600A0B8F774}"/>
              </a:ext>
            </a:extLst>
          </p:cNvPr>
          <p:cNvGraphicFramePr>
            <a:graphicFrameLocks noGrp="1"/>
          </p:cNvGraphicFramePr>
          <p:nvPr/>
        </p:nvGraphicFramePr>
        <p:xfrm>
          <a:off x="724807" y="1136801"/>
          <a:ext cx="10742386" cy="4470044"/>
        </p:xfrm>
        <a:graphic>
          <a:graphicData uri="http://schemas.openxmlformats.org/drawingml/2006/table">
            <a:tbl>
              <a:tblPr/>
              <a:tblGrid>
                <a:gridCol w="2543031">
                  <a:extLst>
                    <a:ext uri="{9D8B030D-6E8A-4147-A177-3AD203B41FA5}">
                      <a16:colId xmlns:a16="http://schemas.microsoft.com/office/drawing/2014/main" val="1725148686"/>
                    </a:ext>
                  </a:extLst>
                </a:gridCol>
                <a:gridCol w="878502">
                  <a:extLst>
                    <a:ext uri="{9D8B030D-6E8A-4147-A177-3AD203B41FA5}">
                      <a16:colId xmlns:a16="http://schemas.microsoft.com/office/drawing/2014/main" val="55629141"/>
                    </a:ext>
                  </a:extLst>
                </a:gridCol>
                <a:gridCol w="832265">
                  <a:extLst>
                    <a:ext uri="{9D8B030D-6E8A-4147-A177-3AD203B41FA5}">
                      <a16:colId xmlns:a16="http://schemas.microsoft.com/office/drawing/2014/main" val="577291479"/>
                    </a:ext>
                  </a:extLst>
                </a:gridCol>
                <a:gridCol w="878502">
                  <a:extLst>
                    <a:ext uri="{9D8B030D-6E8A-4147-A177-3AD203B41FA5}">
                      <a16:colId xmlns:a16="http://schemas.microsoft.com/office/drawing/2014/main" val="741008065"/>
                    </a:ext>
                  </a:extLst>
                </a:gridCol>
                <a:gridCol w="739792">
                  <a:extLst>
                    <a:ext uri="{9D8B030D-6E8A-4147-A177-3AD203B41FA5}">
                      <a16:colId xmlns:a16="http://schemas.microsoft.com/office/drawing/2014/main" val="790613045"/>
                    </a:ext>
                  </a:extLst>
                </a:gridCol>
                <a:gridCol w="893914">
                  <a:extLst>
                    <a:ext uri="{9D8B030D-6E8A-4147-A177-3AD203B41FA5}">
                      <a16:colId xmlns:a16="http://schemas.microsoft.com/office/drawing/2014/main" val="3714022299"/>
                    </a:ext>
                  </a:extLst>
                </a:gridCol>
                <a:gridCol w="739792">
                  <a:extLst>
                    <a:ext uri="{9D8B030D-6E8A-4147-A177-3AD203B41FA5}">
                      <a16:colId xmlns:a16="http://schemas.microsoft.com/office/drawing/2014/main" val="2361956179"/>
                    </a:ext>
                  </a:extLst>
                </a:gridCol>
                <a:gridCol w="909327">
                  <a:extLst>
                    <a:ext uri="{9D8B030D-6E8A-4147-A177-3AD203B41FA5}">
                      <a16:colId xmlns:a16="http://schemas.microsoft.com/office/drawing/2014/main" val="2168485689"/>
                    </a:ext>
                  </a:extLst>
                </a:gridCol>
                <a:gridCol w="739792">
                  <a:extLst>
                    <a:ext uri="{9D8B030D-6E8A-4147-A177-3AD203B41FA5}">
                      <a16:colId xmlns:a16="http://schemas.microsoft.com/office/drawing/2014/main" val="1119339554"/>
                    </a:ext>
                  </a:extLst>
                </a:gridCol>
                <a:gridCol w="847677">
                  <a:extLst>
                    <a:ext uri="{9D8B030D-6E8A-4147-A177-3AD203B41FA5}">
                      <a16:colId xmlns:a16="http://schemas.microsoft.com/office/drawing/2014/main" val="1182475037"/>
                    </a:ext>
                  </a:extLst>
                </a:gridCol>
                <a:gridCol w="739792">
                  <a:extLst>
                    <a:ext uri="{9D8B030D-6E8A-4147-A177-3AD203B41FA5}">
                      <a16:colId xmlns:a16="http://schemas.microsoft.com/office/drawing/2014/main" val="449117662"/>
                    </a:ext>
                  </a:extLst>
                </a:gridCol>
              </a:tblGrid>
              <a:tr h="31709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OUTPUT UPL</a:t>
                      </a:r>
                    </a:p>
                  </a:txBody>
                  <a:tcPr marL="6172" marR="6172" marT="6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Q1.26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% ANR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Q4.25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% ANR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CL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%ANR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PD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%ANR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OD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%ANR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290964"/>
                  </a:ext>
                </a:extLst>
              </a:tr>
              <a:tr h="19133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ANR</a:t>
                      </a:r>
                    </a:p>
                  </a:txBody>
                  <a:tcPr marL="6172" marR="6172" marT="617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2.33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2.13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5.07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0.54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4.23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291988"/>
                  </a:ext>
                </a:extLst>
              </a:tr>
              <a:tr h="19133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TOI</a:t>
                      </a:r>
                    </a:p>
                  </a:txBody>
                  <a:tcPr marL="6172" marR="6172" marT="617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1.61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52.0%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1.50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52.9%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4.28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44.0%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0.42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133.3%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1.32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25.0%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062627"/>
                  </a:ext>
                </a:extLst>
              </a:tr>
              <a:tr h="19133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Net interest income</a:t>
                      </a:r>
                    </a:p>
                  </a:txBody>
                  <a:tcPr marL="6172" marR="6172" marT="617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1.03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33.2%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0.97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34.2%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3.15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32.4%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0.16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51.2%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1.17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22.1%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108738"/>
                  </a:ext>
                </a:extLst>
              </a:tr>
              <a:tr h="19133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Net fee income</a:t>
                      </a:r>
                    </a:p>
                  </a:txBody>
                  <a:tcPr marL="6172" marR="6172" marT="617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0.58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18.8%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0.53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18.7%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1.03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10.6%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0.26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82.1%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0.15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2.9%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9613903"/>
                  </a:ext>
                </a:extLst>
              </a:tr>
              <a:tr h="19133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Other income</a:t>
                      </a:r>
                    </a:p>
                  </a:txBody>
                  <a:tcPr marL="6172" marR="6172" marT="617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-  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-  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0.10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-  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 -  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5167591"/>
                  </a:ext>
                </a:extLst>
              </a:tr>
              <a:tr h="19133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PROVISION</a:t>
                      </a:r>
                    </a:p>
                  </a:txBody>
                  <a:tcPr marL="6172" marR="6172" marT="617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(0.97)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-31.2%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(0.74)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-26.2%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(3.04)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-31.2%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(0.25)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-79.8%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(1.32)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-24.9%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083875"/>
                  </a:ext>
                </a:extLst>
              </a:tr>
              <a:tr h="19133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OPEX</a:t>
                      </a:r>
                    </a:p>
                  </a:txBody>
                  <a:tcPr marL="6172" marR="6172" marT="617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(0.53)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-17.0%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(0.68)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-23.9%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(0.95)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-9.8%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(0.09)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-30.0%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(0.33)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-8.0%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346271"/>
                  </a:ext>
                </a:extLst>
              </a:tr>
              <a:tr h="19133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Acquisition cost</a:t>
                      </a:r>
                    </a:p>
                  </a:txBody>
                  <a:tcPr marL="6172" marR="6172" marT="617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(0.17)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-5.5%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(0.19)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-6.8%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(0.34)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-3.5%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-10.9%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 -  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323678"/>
                  </a:ext>
                </a:extLst>
              </a:tr>
              <a:tr h="19133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UW &amp; Disbursal</a:t>
                      </a:r>
                    </a:p>
                  </a:txBody>
                  <a:tcPr marL="6172" marR="6172" marT="617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(0.02)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(0.06)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-4.1%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765095"/>
                  </a:ext>
                </a:extLst>
              </a:tr>
              <a:tr h="19133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Collection &amp;After-sales services</a:t>
                      </a:r>
                    </a:p>
                  </a:txBody>
                  <a:tcPr marL="6172" marR="6172" marT="617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(0.06)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-2.1%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(0.05)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(0.00)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454975"/>
                  </a:ext>
                </a:extLst>
              </a:tr>
              <a:tr h="19133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Support unit</a:t>
                      </a:r>
                    </a:p>
                  </a:txBody>
                  <a:tcPr marL="6172" marR="6172" marT="617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(0.31)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-9.8%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(0.40)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-14.0%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(0.50)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-5.2%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-13.6%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(0.28)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-7.1%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000124"/>
                  </a:ext>
                </a:extLst>
              </a:tr>
              <a:tr h="19133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PBT</a:t>
                      </a:r>
                    </a:p>
                  </a:txBody>
                  <a:tcPr marL="6172" marR="6172" marT="617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0.12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0.08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2.8%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0.29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0.07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23.5%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(0.33)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-7.9%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471186"/>
                  </a:ext>
                </a:extLst>
              </a:tr>
              <a:tr h="15430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Profit before support cost (PBSC)</a:t>
                      </a:r>
                    </a:p>
                  </a:txBody>
                  <a:tcPr marL="6172" marR="6172" marT="617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0.42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13.6%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0.48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16.8%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0.79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8.1%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0.12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37.1%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(0.04)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1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75322"/>
                  </a:ext>
                </a:extLst>
              </a:tr>
              <a:tr h="2396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72" marR="6172" marT="617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72" marR="6172" marT="617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72" marR="6172" marT="617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72" marR="6172" marT="617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72" marR="6172" marT="617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72" marR="6172" marT="617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72" marR="6172" marT="617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44891"/>
                  </a:ext>
                </a:extLst>
              </a:tr>
              <a:tr h="28007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INPUT UPL</a:t>
                      </a:r>
                    </a:p>
                  </a:txBody>
                  <a:tcPr marL="6172" marR="6172" marT="6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Q1.26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Q4.25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CL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PD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OD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be Vietnam" panose="00000500000000000000" pitchFamily="50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369650"/>
                  </a:ext>
                </a:extLst>
              </a:tr>
              <a:tr h="19133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Ticket size/balance</a:t>
                      </a:r>
                    </a:p>
                  </a:txBody>
                  <a:tcPr marL="6172" marR="6172" marT="617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8.4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7.9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16.0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4.1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8.4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519527"/>
                  </a:ext>
                </a:extLst>
              </a:tr>
              <a:tr h="19133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Tenor</a:t>
                      </a:r>
                    </a:p>
                  </a:txBody>
                  <a:tcPr marL="6172" marR="6172" marT="617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10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10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 17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   1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   9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322276"/>
                  </a:ext>
                </a:extLst>
              </a:tr>
              <a:tr h="19133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IR</a:t>
                      </a:r>
                    </a:p>
                  </a:txBody>
                  <a:tcPr marL="6172" marR="6172" marT="617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49.1%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48.8%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48.5%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58.2%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35.0%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33227"/>
                  </a:ext>
                </a:extLst>
              </a:tr>
              <a:tr h="19133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Insurance</a:t>
                      </a:r>
                    </a:p>
                  </a:txBody>
                  <a:tcPr marL="6172" marR="6172" marT="617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85.0%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83.4%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79.6%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99.6%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51925"/>
                  </a:ext>
                </a:extLst>
              </a:tr>
              <a:tr h="19133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B0-B1</a:t>
                      </a:r>
                    </a:p>
                  </a:txBody>
                  <a:tcPr marL="6172" marR="6172" marT="617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8.8%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838082"/>
                  </a:ext>
                </a:extLst>
              </a:tr>
              <a:tr h="19133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B0-B4</a:t>
                      </a:r>
                    </a:p>
                  </a:txBody>
                  <a:tcPr marL="6172" marR="6172" marT="617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6.6%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810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591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16CCF-732A-42A7-2468-8B61E448A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E2AA7F-DE8F-7F3E-84F6-B83CF6DD4256}"/>
              </a:ext>
            </a:extLst>
          </p:cNvPr>
          <p:cNvSpPr/>
          <p:nvPr/>
        </p:nvSpPr>
        <p:spPr>
          <a:xfrm>
            <a:off x="0" y="0"/>
            <a:ext cx="12192000" cy="681318"/>
          </a:xfrm>
          <a:prstGeom prst="rect">
            <a:avLst/>
          </a:prstGeom>
          <a:solidFill>
            <a:srgbClr val="FF37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69B53B-81CA-F1CF-F12D-50CC94750C64}"/>
              </a:ext>
            </a:extLst>
          </p:cNvPr>
          <p:cNvSpPr txBox="1"/>
          <p:nvPr/>
        </p:nvSpPr>
        <p:spPr>
          <a:xfrm>
            <a:off x="583302" y="48271"/>
            <a:ext cx="8408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>
                    <a:lumMod val="95000"/>
                  </a:schemeClr>
                </a:solidFill>
                <a:latin typeface="Barlow ExtraBold" panose="00000900000000000000" pitchFamily="2" charset="0"/>
              </a:rPr>
              <a:t> </a:t>
            </a:r>
            <a:r>
              <a:rPr lang="en-US" sz="3200" err="1">
                <a:solidFill>
                  <a:schemeClr val="bg1">
                    <a:lumMod val="95000"/>
                  </a:schemeClr>
                </a:solidFill>
                <a:latin typeface="Barlow ExtraBold" panose="00000900000000000000" pitchFamily="2" charset="0"/>
              </a:rPr>
              <a:t>Cashloan</a:t>
            </a:r>
            <a:r>
              <a:rPr lang="en-US" sz="3200">
                <a:solidFill>
                  <a:schemeClr val="bg1">
                    <a:lumMod val="95000"/>
                  </a:schemeClr>
                </a:solidFill>
                <a:latin typeface="Barlow ExtraBold" panose="00000900000000000000" pitchFamily="2" charset="0"/>
              </a:rPr>
              <a:t>– SAP Q1.2026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757A3E73-E617-C8D6-3821-A9D5A6DF8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>
                <a:solidFill>
                  <a:srgbClr val="261D7A"/>
                </a:solidFill>
                <a:latin typeface="Barlow ExtraBold" panose="00000900000000000000" pitchFamily="2" charset="0"/>
              </a:rPr>
              <a:t>BEF- Performance Q1.2026</a:t>
            </a:r>
          </a:p>
        </p:txBody>
      </p:sp>
      <p:pic>
        <p:nvPicPr>
          <p:cNvPr id="8" name="Picture 7" descr="A cartoon of a white monster with pink headphones&#10;&#10;Description automatically generated">
            <a:extLst>
              <a:ext uri="{FF2B5EF4-FFF2-40B4-BE49-F238E27FC236}">
                <a16:creationId xmlns:a16="http://schemas.microsoft.com/office/drawing/2014/main" id="{62DC0647-A303-371B-C0F5-FC7B5FE0F2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465" y="5988424"/>
            <a:ext cx="1341534" cy="1299882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847D2BB-DD4B-512A-F160-8C1D5F241E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79" y="147746"/>
            <a:ext cx="385823" cy="385823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D5ED77C-A1AF-48D9-0470-F187705C49EF}"/>
              </a:ext>
            </a:extLst>
          </p:cNvPr>
          <p:cNvGraphicFramePr>
            <a:graphicFrameLocks noGrp="1"/>
          </p:cNvGraphicFramePr>
          <p:nvPr/>
        </p:nvGraphicFramePr>
        <p:xfrm>
          <a:off x="197479" y="1021845"/>
          <a:ext cx="8574729" cy="2790338"/>
        </p:xfrm>
        <a:graphic>
          <a:graphicData uri="http://schemas.openxmlformats.org/drawingml/2006/table">
            <a:tbl>
              <a:tblPr/>
              <a:tblGrid>
                <a:gridCol w="2056689">
                  <a:extLst>
                    <a:ext uri="{9D8B030D-6E8A-4147-A177-3AD203B41FA5}">
                      <a16:colId xmlns:a16="http://schemas.microsoft.com/office/drawing/2014/main" val="664492379"/>
                    </a:ext>
                  </a:extLst>
                </a:gridCol>
                <a:gridCol w="532350">
                  <a:extLst>
                    <a:ext uri="{9D8B030D-6E8A-4147-A177-3AD203B41FA5}">
                      <a16:colId xmlns:a16="http://schemas.microsoft.com/office/drawing/2014/main" val="2935186477"/>
                    </a:ext>
                  </a:extLst>
                </a:gridCol>
                <a:gridCol w="545334">
                  <a:extLst>
                    <a:ext uri="{9D8B030D-6E8A-4147-A177-3AD203B41FA5}">
                      <a16:colId xmlns:a16="http://schemas.microsoft.com/office/drawing/2014/main" val="3999232104"/>
                    </a:ext>
                  </a:extLst>
                </a:gridCol>
                <a:gridCol w="545334">
                  <a:extLst>
                    <a:ext uri="{9D8B030D-6E8A-4147-A177-3AD203B41FA5}">
                      <a16:colId xmlns:a16="http://schemas.microsoft.com/office/drawing/2014/main" val="998906497"/>
                    </a:ext>
                  </a:extLst>
                </a:gridCol>
                <a:gridCol w="545334">
                  <a:extLst>
                    <a:ext uri="{9D8B030D-6E8A-4147-A177-3AD203B41FA5}">
                      <a16:colId xmlns:a16="http://schemas.microsoft.com/office/drawing/2014/main" val="2460643757"/>
                    </a:ext>
                  </a:extLst>
                </a:gridCol>
                <a:gridCol w="545334">
                  <a:extLst>
                    <a:ext uri="{9D8B030D-6E8A-4147-A177-3AD203B41FA5}">
                      <a16:colId xmlns:a16="http://schemas.microsoft.com/office/drawing/2014/main" val="3482116862"/>
                    </a:ext>
                  </a:extLst>
                </a:gridCol>
                <a:gridCol w="545334">
                  <a:extLst>
                    <a:ext uri="{9D8B030D-6E8A-4147-A177-3AD203B41FA5}">
                      <a16:colId xmlns:a16="http://schemas.microsoft.com/office/drawing/2014/main" val="3539230907"/>
                    </a:ext>
                  </a:extLst>
                </a:gridCol>
                <a:gridCol w="545334">
                  <a:extLst>
                    <a:ext uri="{9D8B030D-6E8A-4147-A177-3AD203B41FA5}">
                      <a16:colId xmlns:a16="http://schemas.microsoft.com/office/drawing/2014/main" val="4078362151"/>
                    </a:ext>
                  </a:extLst>
                </a:gridCol>
                <a:gridCol w="545334">
                  <a:extLst>
                    <a:ext uri="{9D8B030D-6E8A-4147-A177-3AD203B41FA5}">
                      <a16:colId xmlns:a16="http://schemas.microsoft.com/office/drawing/2014/main" val="4219086151"/>
                    </a:ext>
                  </a:extLst>
                </a:gridCol>
                <a:gridCol w="545334">
                  <a:extLst>
                    <a:ext uri="{9D8B030D-6E8A-4147-A177-3AD203B41FA5}">
                      <a16:colId xmlns:a16="http://schemas.microsoft.com/office/drawing/2014/main" val="3370818939"/>
                    </a:ext>
                  </a:extLst>
                </a:gridCol>
                <a:gridCol w="545334">
                  <a:extLst>
                    <a:ext uri="{9D8B030D-6E8A-4147-A177-3AD203B41FA5}">
                      <a16:colId xmlns:a16="http://schemas.microsoft.com/office/drawing/2014/main" val="1782028963"/>
                    </a:ext>
                  </a:extLst>
                </a:gridCol>
                <a:gridCol w="532350">
                  <a:extLst>
                    <a:ext uri="{9D8B030D-6E8A-4147-A177-3AD203B41FA5}">
                      <a16:colId xmlns:a16="http://schemas.microsoft.com/office/drawing/2014/main" val="3329752172"/>
                    </a:ext>
                  </a:extLst>
                </a:gridCol>
                <a:gridCol w="545334">
                  <a:extLst>
                    <a:ext uri="{9D8B030D-6E8A-4147-A177-3AD203B41FA5}">
                      <a16:colId xmlns:a16="http://schemas.microsoft.com/office/drawing/2014/main" val="1959424308"/>
                    </a:ext>
                  </a:extLst>
                </a:gridCol>
              </a:tblGrid>
              <a:tr h="25414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OUTPUT-CL Q1.26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CL all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%ANR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CAKE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%ANR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VDS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%ANR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MWG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%ANR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VNPAY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%ANR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ZLP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%ANR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9459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ANR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5.07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4.82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4.40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9.28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6.58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5.01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0258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TOI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4.28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44.0%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3.89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42.1%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4.28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48.7%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6.81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38.3%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5.12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40.6%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3.76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45.0%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4759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Net interest income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3.15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32.4%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2.76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29.8%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3.04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34.5%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5.74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32.3%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3.83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30.3%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3.03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36.3%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8934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Net fee income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1.03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10.6%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1.04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11.3%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1.15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13.1%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0.89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1.17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9.3%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0.65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3873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Other income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0.10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0.09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0.09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0.18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0.12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0.08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2851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PROVISION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(3.04)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-31.2%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(2.92)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-31.6%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(2.80)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-31.9%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(5.44)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-30.6%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(3.63)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-28.7%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(2.32)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-27.8%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8132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OPEX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(0.95)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-9.8%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(0.81)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-8.7%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(1.23)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-13.9%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(1.18)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-6.7%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(0.66)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-5.2%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(0.59)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-7.0%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282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Acquisition cost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(0.34)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-3.5%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(0.16)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(0.69)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-7.9%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(0.42)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-2.4%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(0.02)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(0.02)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1581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UW &amp; Disbursal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(0.06)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(0.10)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(0.03)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(0.03)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(0.05)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(0.03)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1512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Collection &amp; </a:t>
                      </a:r>
                      <a:r>
                        <a:rPr lang="en-US" sz="1100" b="0" i="0" u="none" strike="noStrike" err="1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Aftersale</a:t>
                      </a: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service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(0.05)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(0.05)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(0.04)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(0.06)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(0.05)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(0.04)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95068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Support unit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(0.50)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-5.2%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(0.50)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-5.4%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(0.46)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-5.2%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(0.67)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-3.8%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(0.54)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-4.3%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(0.49)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-5.8%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124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PBT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0.29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0.17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0.25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2.9%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0.19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0.83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6.6%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0.85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10.2%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86626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Profit before support cost (PBSC)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0.79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8.1%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0.67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0.71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8.0%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0.86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1.37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1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10.8%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1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1.34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1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16.0%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95477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52C338F-E229-EBA2-0EC7-B103AE1325CD}"/>
              </a:ext>
            </a:extLst>
          </p:cNvPr>
          <p:cNvGraphicFramePr>
            <a:graphicFrameLocks noGrp="1"/>
          </p:cNvGraphicFramePr>
          <p:nvPr/>
        </p:nvGraphicFramePr>
        <p:xfrm>
          <a:off x="8991600" y="1021993"/>
          <a:ext cx="2986035" cy="2790190"/>
        </p:xfrm>
        <a:graphic>
          <a:graphicData uri="http://schemas.openxmlformats.org/drawingml/2006/table">
            <a:tbl>
              <a:tblPr/>
              <a:tblGrid>
                <a:gridCol w="1858460">
                  <a:extLst>
                    <a:ext uri="{9D8B030D-6E8A-4147-A177-3AD203B41FA5}">
                      <a16:colId xmlns:a16="http://schemas.microsoft.com/office/drawing/2014/main" val="3509556998"/>
                    </a:ext>
                  </a:extLst>
                </a:gridCol>
                <a:gridCol w="556995">
                  <a:extLst>
                    <a:ext uri="{9D8B030D-6E8A-4147-A177-3AD203B41FA5}">
                      <a16:colId xmlns:a16="http://schemas.microsoft.com/office/drawing/2014/main" val="4239205937"/>
                    </a:ext>
                  </a:extLst>
                </a:gridCol>
                <a:gridCol w="570580">
                  <a:extLst>
                    <a:ext uri="{9D8B030D-6E8A-4147-A177-3AD203B41FA5}">
                      <a16:colId xmlns:a16="http://schemas.microsoft.com/office/drawing/2014/main" val="2062969935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OUTPUT-CL Q4.25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CL all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%ANR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956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ANR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5.32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836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TOI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4.34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44.6%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9067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Net interest income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3.25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33.3%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6602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Net fee income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1.09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11.2%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1274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Other income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  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28699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PROVISION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-2.65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-27.2%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5048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OPEX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-1.37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-14.0%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1083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Acquisition cost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-0.56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-5.8%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15565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UW &amp; Disbursal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-0.07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1307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Collection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0497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Support unit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-0.63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-6.5%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1037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PBT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0.32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444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Profit before support cost (PBSC)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0.95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1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9.8%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33724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AFAE091-69D4-B73F-7DF9-A01C2C29A34D}"/>
              </a:ext>
            </a:extLst>
          </p:cNvPr>
          <p:cNvGraphicFramePr>
            <a:graphicFrameLocks noGrp="1"/>
          </p:cNvGraphicFramePr>
          <p:nvPr/>
        </p:nvGraphicFramePr>
        <p:xfrm>
          <a:off x="214365" y="4090752"/>
          <a:ext cx="8574727" cy="1903508"/>
        </p:xfrm>
        <a:graphic>
          <a:graphicData uri="http://schemas.openxmlformats.org/drawingml/2006/table">
            <a:tbl>
              <a:tblPr/>
              <a:tblGrid>
                <a:gridCol w="2143681">
                  <a:extLst>
                    <a:ext uri="{9D8B030D-6E8A-4147-A177-3AD203B41FA5}">
                      <a16:colId xmlns:a16="http://schemas.microsoft.com/office/drawing/2014/main" val="2512021352"/>
                    </a:ext>
                  </a:extLst>
                </a:gridCol>
                <a:gridCol w="1071841">
                  <a:extLst>
                    <a:ext uri="{9D8B030D-6E8A-4147-A177-3AD203B41FA5}">
                      <a16:colId xmlns:a16="http://schemas.microsoft.com/office/drawing/2014/main" val="3908599071"/>
                    </a:ext>
                  </a:extLst>
                </a:gridCol>
                <a:gridCol w="1071841">
                  <a:extLst>
                    <a:ext uri="{9D8B030D-6E8A-4147-A177-3AD203B41FA5}">
                      <a16:colId xmlns:a16="http://schemas.microsoft.com/office/drawing/2014/main" val="3107359615"/>
                    </a:ext>
                  </a:extLst>
                </a:gridCol>
                <a:gridCol w="1071841">
                  <a:extLst>
                    <a:ext uri="{9D8B030D-6E8A-4147-A177-3AD203B41FA5}">
                      <a16:colId xmlns:a16="http://schemas.microsoft.com/office/drawing/2014/main" val="3670141183"/>
                    </a:ext>
                  </a:extLst>
                </a:gridCol>
                <a:gridCol w="1071841">
                  <a:extLst>
                    <a:ext uri="{9D8B030D-6E8A-4147-A177-3AD203B41FA5}">
                      <a16:colId xmlns:a16="http://schemas.microsoft.com/office/drawing/2014/main" val="3871066501"/>
                    </a:ext>
                  </a:extLst>
                </a:gridCol>
                <a:gridCol w="1071841">
                  <a:extLst>
                    <a:ext uri="{9D8B030D-6E8A-4147-A177-3AD203B41FA5}">
                      <a16:colId xmlns:a16="http://schemas.microsoft.com/office/drawing/2014/main" val="391095303"/>
                    </a:ext>
                  </a:extLst>
                </a:gridCol>
                <a:gridCol w="1071841">
                  <a:extLst>
                    <a:ext uri="{9D8B030D-6E8A-4147-A177-3AD203B41FA5}">
                      <a16:colId xmlns:a16="http://schemas.microsoft.com/office/drawing/2014/main" val="1105938705"/>
                    </a:ext>
                  </a:extLst>
                </a:gridCol>
              </a:tblGrid>
              <a:tr h="26018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INPUT-CL Q1.26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CL all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CAKE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VDS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MWG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VNPAY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ZLP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236716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Ticket size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16.0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15.5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15.5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22.9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19.5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14.6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737045"/>
                  </a:ext>
                </a:extLst>
              </a:tr>
              <a:tr h="20096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Tenor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    17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   17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  18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   17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   17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  14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064781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IR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48.5%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45.5%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50.8%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49.2%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45.3%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50.9%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256899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COF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79.6%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85.0%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83.7%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57.9%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75.6%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67.6%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498068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%Insurance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79.6%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85.0%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83.7%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57.9%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75.6%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67.6%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522199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Insurance rate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6.6%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6.4%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6.7%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6.9%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6.9%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37391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B0 - B1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420174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B0-B4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2.9%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2.6%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55322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780B257-8965-C446-81BC-52E420FB2EF2}"/>
              </a:ext>
            </a:extLst>
          </p:cNvPr>
          <p:cNvGraphicFramePr>
            <a:graphicFrameLocks noGrp="1"/>
          </p:cNvGraphicFramePr>
          <p:nvPr/>
        </p:nvGraphicFramePr>
        <p:xfrm>
          <a:off x="8991600" y="4090752"/>
          <a:ext cx="2986035" cy="1897671"/>
        </p:xfrm>
        <a:graphic>
          <a:graphicData uri="http://schemas.openxmlformats.org/drawingml/2006/table">
            <a:tbl>
              <a:tblPr/>
              <a:tblGrid>
                <a:gridCol w="1926474">
                  <a:extLst>
                    <a:ext uri="{9D8B030D-6E8A-4147-A177-3AD203B41FA5}">
                      <a16:colId xmlns:a16="http://schemas.microsoft.com/office/drawing/2014/main" val="3646162014"/>
                    </a:ext>
                  </a:extLst>
                </a:gridCol>
                <a:gridCol w="1059561">
                  <a:extLst>
                    <a:ext uri="{9D8B030D-6E8A-4147-A177-3AD203B41FA5}">
                      <a16:colId xmlns:a16="http://schemas.microsoft.com/office/drawing/2014/main" val="1619223003"/>
                    </a:ext>
                  </a:extLst>
                </a:gridCol>
              </a:tblGrid>
              <a:tr h="2626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INPUT-CL Q4.25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CL all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090499"/>
                  </a:ext>
                </a:extLst>
              </a:tr>
              <a:tr h="196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Ticket size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16.9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076946"/>
                  </a:ext>
                </a:extLst>
              </a:tr>
              <a:tr h="25618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Tenor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045308"/>
                  </a:ext>
                </a:extLst>
              </a:tr>
              <a:tr h="196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IR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48.80%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578749"/>
                  </a:ext>
                </a:extLst>
              </a:tr>
              <a:tr h="196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COF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7.40%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0577134"/>
                  </a:ext>
                </a:extLst>
              </a:tr>
              <a:tr h="196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%Insurance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80.40%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871031"/>
                  </a:ext>
                </a:extLst>
              </a:tr>
              <a:tr h="196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Insurance rate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6.60%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455136"/>
                  </a:ext>
                </a:extLst>
              </a:tr>
              <a:tr h="196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B0 - B1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5.10%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7955340"/>
                  </a:ext>
                </a:extLst>
              </a:tr>
              <a:tr h="196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B0-B4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3.30%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071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5960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33FD1-A13A-A623-1492-B67747E1E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E7D294-C338-6F8D-8CBC-5FA45DF951C7}"/>
              </a:ext>
            </a:extLst>
          </p:cNvPr>
          <p:cNvSpPr/>
          <p:nvPr/>
        </p:nvSpPr>
        <p:spPr>
          <a:xfrm>
            <a:off x="0" y="0"/>
            <a:ext cx="12192000" cy="681318"/>
          </a:xfrm>
          <a:prstGeom prst="rect">
            <a:avLst/>
          </a:prstGeom>
          <a:solidFill>
            <a:srgbClr val="FF37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71B06-9940-49F0-2F01-79FDC6C593DD}"/>
              </a:ext>
            </a:extLst>
          </p:cNvPr>
          <p:cNvSpPr txBox="1"/>
          <p:nvPr/>
        </p:nvSpPr>
        <p:spPr>
          <a:xfrm>
            <a:off x="583302" y="48271"/>
            <a:ext cx="8408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>
                    <a:lumMod val="95000"/>
                  </a:schemeClr>
                </a:solidFill>
                <a:latin typeface="Barlow ExtraBold" panose="00000900000000000000" pitchFamily="2" charset="0"/>
              </a:rPr>
              <a:t>Payday– SAP Q1.2026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929339A0-12F4-4B30-5032-DB41C64CD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>
                <a:solidFill>
                  <a:srgbClr val="261D7A"/>
                </a:solidFill>
                <a:latin typeface="Barlow ExtraBold" panose="00000900000000000000" pitchFamily="2" charset="0"/>
              </a:rPr>
              <a:t>BEF- Performance Q1.2026</a:t>
            </a:r>
          </a:p>
        </p:txBody>
      </p:sp>
      <p:pic>
        <p:nvPicPr>
          <p:cNvPr id="8" name="Picture 7" descr="A cartoon of a white monster with pink headphones&#10;&#10;Description automatically generated">
            <a:extLst>
              <a:ext uri="{FF2B5EF4-FFF2-40B4-BE49-F238E27FC236}">
                <a16:creationId xmlns:a16="http://schemas.microsoft.com/office/drawing/2014/main" id="{E44A790E-ACF8-0F08-822A-82086EC73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465" y="5988424"/>
            <a:ext cx="1341534" cy="1299882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4538099-397D-42CC-E6EF-F90B7190F5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79" y="147746"/>
            <a:ext cx="385823" cy="38582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95B8E4F-9F24-FE6E-DFB0-A575A7024C5F}"/>
              </a:ext>
            </a:extLst>
          </p:cNvPr>
          <p:cNvSpPr txBox="1"/>
          <p:nvPr/>
        </p:nvSpPr>
        <p:spPr>
          <a:xfrm>
            <a:off x="6390751" y="6282829"/>
            <a:ext cx="5686819" cy="438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800">
                <a:solidFill>
                  <a:srgbClr val="FF0000"/>
                </a:solidFill>
                <a:latin typeface="be Vietnam"/>
              </a:rPr>
              <a:t>ANR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của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sản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phẩm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Payday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thấp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do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sản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phẩm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chỉ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có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1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kỳ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trả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nợ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duy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nhất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,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trong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khi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khoản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vay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vẫn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được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ghi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nhận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trên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sổ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sách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6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tháng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sau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khi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kết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thúc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kỳ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trả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nợ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(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đối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với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các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khoản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vay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 </a:t>
            </a:r>
            <a:r>
              <a:rPr lang="en-US" sz="800" err="1">
                <a:solidFill>
                  <a:srgbClr val="FF0000"/>
                </a:solidFill>
                <a:latin typeface="be Vietnam"/>
              </a:rPr>
              <a:t>xấu</a:t>
            </a:r>
            <a:r>
              <a:rPr lang="en-US" sz="800">
                <a:solidFill>
                  <a:srgbClr val="FF0000"/>
                </a:solidFill>
                <a:latin typeface="be Vietnam"/>
              </a:rPr>
              <a:t>).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2789CD-021D-68B5-0873-A18DA99A10F7}"/>
              </a:ext>
            </a:extLst>
          </p:cNvPr>
          <p:cNvGraphicFramePr>
            <a:graphicFrameLocks noGrp="1"/>
          </p:cNvGraphicFramePr>
          <p:nvPr/>
        </p:nvGraphicFramePr>
        <p:xfrm>
          <a:off x="197478" y="829064"/>
          <a:ext cx="7026283" cy="3003468"/>
        </p:xfrm>
        <a:graphic>
          <a:graphicData uri="http://schemas.openxmlformats.org/drawingml/2006/table">
            <a:tbl>
              <a:tblPr/>
              <a:tblGrid>
                <a:gridCol w="2061043">
                  <a:extLst>
                    <a:ext uri="{9D8B030D-6E8A-4147-A177-3AD203B41FA5}">
                      <a16:colId xmlns:a16="http://schemas.microsoft.com/office/drawing/2014/main" val="3231534155"/>
                    </a:ext>
                  </a:extLst>
                </a:gridCol>
                <a:gridCol w="843154">
                  <a:extLst>
                    <a:ext uri="{9D8B030D-6E8A-4147-A177-3AD203B41FA5}">
                      <a16:colId xmlns:a16="http://schemas.microsoft.com/office/drawing/2014/main" val="3275489831"/>
                    </a:ext>
                  </a:extLst>
                </a:gridCol>
                <a:gridCol w="811926">
                  <a:extLst>
                    <a:ext uri="{9D8B030D-6E8A-4147-A177-3AD203B41FA5}">
                      <a16:colId xmlns:a16="http://schemas.microsoft.com/office/drawing/2014/main" val="3371002554"/>
                    </a:ext>
                  </a:extLst>
                </a:gridCol>
                <a:gridCol w="843154">
                  <a:extLst>
                    <a:ext uri="{9D8B030D-6E8A-4147-A177-3AD203B41FA5}">
                      <a16:colId xmlns:a16="http://schemas.microsoft.com/office/drawing/2014/main" val="2547782592"/>
                    </a:ext>
                  </a:extLst>
                </a:gridCol>
                <a:gridCol w="811926">
                  <a:extLst>
                    <a:ext uri="{9D8B030D-6E8A-4147-A177-3AD203B41FA5}">
                      <a16:colId xmlns:a16="http://schemas.microsoft.com/office/drawing/2014/main" val="4209848395"/>
                    </a:ext>
                  </a:extLst>
                </a:gridCol>
                <a:gridCol w="843154">
                  <a:extLst>
                    <a:ext uri="{9D8B030D-6E8A-4147-A177-3AD203B41FA5}">
                      <a16:colId xmlns:a16="http://schemas.microsoft.com/office/drawing/2014/main" val="1631748666"/>
                    </a:ext>
                  </a:extLst>
                </a:gridCol>
                <a:gridCol w="811926">
                  <a:extLst>
                    <a:ext uri="{9D8B030D-6E8A-4147-A177-3AD203B41FA5}">
                      <a16:colId xmlns:a16="http://schemas.microsoft.com/office/drawing/2014/main" val="3682221110"/>
                    </a:ext>
                  </a:extLst>
                </a:gridCol>
              </a:tblGrid>
              <a:tr h="36059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OUTPUT-PD Q1.26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PD all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%ANR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CAKE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%ANR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VDS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% ANR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71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7788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ANR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0.54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0.43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0.65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9063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TOI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0.42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133.3%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0.34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133.8%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0.50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130.3%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66653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Net interest income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0.16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51.2%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0.13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49.6%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0.19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50.6%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9446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Net fee income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0.26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82.1%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0.21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84.2%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0.30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79.6%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6725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Other income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-  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-  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-  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2034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PROVISION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(0.25)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-79.8%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(0.20)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-77.8%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(0.31)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-82.2%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07947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OPEX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(0.09)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-30.0%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(0.06)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-23.6%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(0.15)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-38.1%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01738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Acquisition cost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-10.9%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(0.00)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(0.08)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-21.0%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347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UW &amp; Disbursal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-4.1%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-4.4%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(0.02)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-4.6%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4512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Collection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(0.00)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(0.00)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(0.00)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00083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Support unit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-13.6%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-17.0%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-11.2%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2674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PBT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0.07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23.5%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0.08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32.3%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0.04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9.9%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6476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Profit before support cost (PBSC)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0.12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37.1%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0.12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49.3%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0.08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1" u="none" strike="noStrike" dirty="0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21.2%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23128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F65700D-A1F3-8FE5-2495-C1B1B50C4002}"/>
              </a:ext>
            </a:extLst>
          </p:cNvPr>
          <p:cNvGraphicFramePr>
            <a:graphicFrameLocks noGrp="1"/>
          </p:cNvGraphicFramePr>
          <p:nvPr/>
        </p:nvGraphicFramePr>
        <p:xfrm>
          <a:off x="7961373" y="833021"/>
          <a:ext cx="3826764" cy="2999511"/>
        </p:xfrm>
        <a:graphic>
          <a:graphicData uri="http://schemas.openxmlformats.org/drawingml/2006/table">
            <a:tbl>
              <a:tblPr/>
              <a:tblGrid>
                <a:gridCol w="2050770">
                  <a:extLst>
                    <a:ext uri="{9D8B030D-6E8A-4147-A177-3AD203B41FA5}">
                      <a16:colId xmlns:a16="http://schemas.microsoft.com/office/drawing/2014/main" val="2329715890"/>
                    </a:ext>
                  </a:extLst>
                </a:gridCol>
                <a:gridCol w="887997">
                  <a:extLst>
                    <a:ext uri="{9D8B030D-6E8A-4147-A177-3AD203B41FA5}">
                      <a16:colId xmlns:a16="http://schemas.microsoft.com/office/drawing/2014/main" val="937558221"/>
                    </a:ext>
                  </a:extLst>
                </a:gridCol>
                <a:gridCol w="887997">
                  <a:extLst>
                    <a:ext uri="{9D8B030D-6E8A-4147-A177-3AD203B41FA5}">
                      <a16:colId xmlns:a16="http://schemas.microsoft.com/office/drawing/2014/main" val="1880260783"/>
                    </a:ext>
                  </a:extLst>
                </a:gridCol>
              </a:tblGrid>
              <a:tr h="35664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OUTPUT-PD Q4.25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PD all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%ANR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3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0692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ANR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0.43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4055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TOI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0.37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146.3%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2307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Net interest income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0.14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56.9%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3854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Net fee income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0.22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89.4%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1400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Other income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-  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0429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PROVISION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(0.17)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-69.3%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4480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OPEX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(0.12)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-47.1%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3190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Acquisition cost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(0.05)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-18.0%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13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UW &amp; Disbursal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-3.6%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38890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Collection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-2.8%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7231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Support unit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(0.06)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-22.6%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5686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PBT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0.07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29.9%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984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Profit before support cost (PBSC)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0.13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52.5%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079856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587CA0A-18CA-8C0A-5384-3F0267AF2025}"/>
              </a:ext>
            </a:extLst>
          </p:cNvPr>
          <p:cNvGraphicFramePr>
            <a:graphicFrameLocks noGrp="1"/>
          </p:cNvGraphicFramePr>
          <p:nvPr/>
        </p:nvGraphicFramePr>
        <p:xfrm>
          <a:off x="7961373" y="3858418"/>
          <a:ext cx="3826764" cy="2072470"/>
        </p:xfrm>
        <a:graphic>
          <a:graphicData uri="http://schemas.openxmlformats.org/drawingml/2006/table">
            <a:tbl>
              <a:tblPr/>
              <a:tblGrid>
                <a:gridCol w="2899063">
                  <a:extLst>
                    <a:ext uri="{9D8B030D-6E8A-4147-A177-3AD203B41FA5}">
                      <a16:colId xmlns:a16="http://schemas.microsoft.com/office/drawing/2014/main" val="3000021227"/>
                    </a:ext>
                  </a:extLst>
                </a:gridCol>
                <a:gridCol w="927701">
                  <a:extLst>
                    <a:ext uri="{9D8B030D-6E8A-4147-A177-3AD203B41FA5}">
                      <a16:colId xmlns:a16="http://schemas.microsoft.com/office/drawing/2014/main" val="4079115770"/>
                    </a:ext>
                  </a:extLst>
                </a:gridCol>
              </a:tblGrid>
              <a:tr h="242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e Vietnam" panose="00000500000000000000" pitchFamily="50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e Vietnam" panose="00000500000000000000" pitchFamily="50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192769"/>
                  </a:ext>
                </a:extLst>
              </a:tr>
              <a:tr h="2547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INPUT-PD Q4.25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PD all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85697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Ticket size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4.1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253608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Tenor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1.0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253961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IR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0.6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392548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COF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0.1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560886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%Insurance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99.6%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588938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Insurance rate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8.0%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329690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B0 - B1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8.8%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695005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B0-B4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6.6%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11788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0229286-4FD8-2CF6-27DE-9F80E4D6E647}"/>
              </a:ext>
            </a:extLst>
          </p:cNvPr>
          <p:cNvGraphicFramePr>
            <a:graphicFrameLocks noGrp="1"/>
          </p:cNvGraphicFramePr>
          <p:nvPr/>
        </p:nvGraphicFramePr>
        <p:xfrm>
          <a:off x="197479" y="3904138"/>
          <a:ext cx="7026282" cy="2046489"/>
        </p:xfrm>
        <a:graphic>
          <a:graphicData uri="http://schemas.openxmlformats.org/drawingml/2006/table">
            <a:tbl>
              <a:tblPr/>
              <a:tblGrid>
                <a:gridCol w="2833178">
                  <a:extLst>
                    <a:ext uri="{9D8B030D-6E8A-4147-A177-3AD203B41FA5}">
                      <a16:colId xmlns:a16="http://schemas.microsoft.com/office/drawing/2014/main" val="2683463164"/>
                    </a:ext>
                  </a:extLst>
                </a:gridCol>
                <a:gridCol w="1019944">
                  <a:extLst>
                    <a:ext uri="{9D8B030D-6E8A-4147-A177-3AD203B41FA5}">
                      <a16:colId xmlns:a16="http://schemas.microsoft.com/office/drawing/2014/main" val="4208181060"/>
                    </a:ext>
                  </a:extLst>
                </a:gridCol>
                <a:gridCol w="1586580">
                  <a:extLst>
                    <a:ext uri="{9D8B030D-6E8A-4147-A177-3AD203B41FA5}">
                      <a16:colId xmlns:a16="http://schemas.microsoft.com/office/drawing/2014/main" val="1937637353"/>
                    </a:ext>
                  </a:extLst>
                </a:gridCol>
                <a:gridCol w="1586580">
                  <a:extLst>
                    <a:ext uri="{9D8B030D-6E8A-4147-A177-3AD203B41FA5}">
                      <a16:colId xmlns:a16="http://schemas.microsoft.com/office/drawing/2014/main" val="3588167401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e Vietnam" panose="00000500000000000000" pitchFamily="50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e Vietnam" panose="00000500000000000000" pitchFamily="50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e Vietnam" panose="00000500000000000000" pitchFamily="50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mVND</a:t>
                      </a: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76790"/>
                  </a:ext>
                </a:extLst>
              </a:tr>
              <a:tr h="27483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INPUT-PD Q1.26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PD all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CAKE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VDS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385649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Ticket size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4.1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3.4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4.8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857697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Tenor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   1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   1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   1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318045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IR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58.2%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55.0%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59.8%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050029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COF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777571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%Insurance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99.6%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100.0%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100.0%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7214998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Insurance rate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8.0%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8.0%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8.0%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481661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B0 - B1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8.8%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8.4%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9.3%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729588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B0-B4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6.6%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6.3%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769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032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8CCCF-FD39-44FF-373A-1980A5FA3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57D5F2-CB24-6D12-9B17-7EC947E591BD}"/>
              </a:ext>
            </a:extLst>
          </p:cNvPr>
          <p:cNvSpPr/>
          <p:nvPr/>
        </p:nvSpPr>
        <p:spPr>
          <a:xfrm>
            <a:off x="0" y="0"/>
            <a:ext cx="12192000" cy="681318"/>
          </a:xfrm>
          <a:prstGeom prst="rect">
            <a:avLst/>
          </a:prstGeom>
          <a:solidFill>
            <a:srgbClr val="FF37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BAFB15-8879-C59A-9189-7B8B42B79588}"/>
              </a:ext>
            </a:extLst>
          </p:cNvPr>
          <p:cNvSpPr txBox="1"/>
          <p:nvPr/>
        </p:nvSpPr>
        <p:spPr>
          <a:xfrm>
            <a:off x="583302" y="48271"/>
            <a:ext cx="8408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err="1">
                <a:solidFill>
                  <a:schemeClr val="bg1">
                    <a:lumMod val="95000"/>
                  </a:schemeClr>
                </a:solidFill>
                <a:latin typeface="Barlow ExtraBold" panose="00000900000000000000" pitchFamily="2" charset="0"/>
              </a:rPr>
              <a:t>Paylater</a:t>
            </a:r>
            <a:r>
              <a:rPr lang="en-US" sz="3200">
                <a:solidFill>
                  <a:schemeClr val="bg1">
                    <a:lumMod val="95000"/>
                  </a:schemeClr>
                </a:solidFill>
                <a:latin typeface="Barlow ExtraBold" panose="00000900000000000000" pitchFamily="2" charset="0"/>
              </a:rPr>
              <a:t>– SAP Q1.2026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753458BE-921E-0F66-9964-3CFF2E07B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>
                <a:solidFill>
                  <a:srgbClr val="261D7A"/>
                </a:solidFill>
                <a:latin typeface="Barlow ExtraBold" panose="00000900000000000000" pitchFamily="2" charset="0"/>
              </a:rPr>
              <a:t>BEF- Performance Q1.2026</a:t>
            </a:r>
          </a:p>
        </p:txBody>
      </p:sp>
      <p:pic>
        <p:nvPicPr>
          <p:cNvPr id="8" name="Picture 7" descr="A cartoon of a white monster with pink headphones&#10;&#10;Description automatically generated">
            <a:extLst>
              <a:ext uri="{FF2B5EF4-FFF2-40B4-BE49-F238E27FC236}">
                <a16:creationId xmlns:a16="http://schemas.microsoft.com/office/drawing/2014/main" id="{DEC5CAD7-4EAD-57BE-8F59-59FD036F6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465" y="5988424"/>
            <a:ext cx="1341534" cy="1299882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A1EE3BE-8298-1EB1-2920-090BE54ED5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79" y="147746"/>
            <a:ext cx="385823" cy="385823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2EB882-62E7-270D-0EE0-6EF67A5094D7}"/>
              </a:ext>
            </a:extLst>
          </p:cNvPr>
          <p:cNvGraphicFramePr>
            <a:graphicFrameLocks noGrp="1"/>
          </p:cNvGraphicFramePr>
          <p:nvPr/>
        </p:nvGraphicFramePr>
        <p:xfrm>
          <a:off x="390390" y="753629"/>
          <a:ext cx="7912100" cy="3136919"/>
        </p:xfrm>
        <a:graphic>
          <a:graphicData uri="http://schemas.openxmlformats.org/drawingml/2006/table">
            <a:tbl>
              <a:tblPr/>
              <a:tblGrid>
                <a:gridCol w="1701800">
                  <a:extLst>
                    <a:ext uri="{9D8B030D-6E8A-4147-A177-3AD203B41FA5}">
                      <a16:colId xmlns:a16="http://schemas.microsoft.com/office/drawing/2014/main" val="20469646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51341178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1967394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9858488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613555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948317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4902624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7855899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9595064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303090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52965094"/>
                    </a:ext>
                  </a:extLst>
                </a:gridCol>
              </a:tblGrid>
              <a:tr h="25909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OUTPUT-PL Q1.26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PL all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%ANR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MWG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% ANR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VNPAY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% ANR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BE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% ANR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VDS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% ANR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71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3265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Spending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26.54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45.75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24.32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10.26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12.76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3840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ANR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1.37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2.15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1.24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0.48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0.63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9834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TOI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2.04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29.8%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3.71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34.5%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1.46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23.7%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0.94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39.7%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1.01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32.0%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7592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Net interest income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0.69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10.1%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1.03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9.6%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0.70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11.3%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0.29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12.1%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0.38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11.9%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54496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Net fee income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1.35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19.8%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2.68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25.0%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0.76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12.4%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0.66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27.6%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0.63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20.0%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2263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Other income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-  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-  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-  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-  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-  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5102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PROVISION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(2.44)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-35.5%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(2.93)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-27.3%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(2.44)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-39.5%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(1.02)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-43.1%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(1.43)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-45.1%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9815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OPEX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(0.61)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-8.9%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(0.95)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-8.9%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(0.47)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-7.5%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(0.64)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-26.8%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(0.48)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-15.0%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2446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Sales &amp; Marketing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(0.50)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-7.2%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(0.82)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-7.7%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(0.35)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-5.6%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(0.53)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-22.2%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(0.36)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-11.4%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8707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UW &amp; Disbursal cost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(0.08)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(0.41)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-3.8%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(0.07)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-3.1%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5314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Collection &amp; After-sales services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(0.12)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(0.13)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-  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(0.22)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-9.2%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-  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0805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Support unit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(0.07)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(0.08)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-0.7%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(0.06)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(0.11)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-3.3%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9375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PBT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(0.22)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-3.3%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(0.21)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-2.0%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(0.27)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-4.4%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(0.20)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-8.5%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(0.22)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-6.8%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8178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Profit before support cost (PBSC)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(0.12)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(0.13)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(0.12)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(0.11)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-4.6%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(0.11)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-3.6%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8367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4D27AC8-3865-4081-B27D-6E6822EEBE53}"/>
              </a:ext>
            </a:extLst>
          </p:cNvPr>
          <p:cNvGraphicFramePr>
            <a:graphicFrameLocks noGrp="1"/>
          </p:cNvGraphicFramePr>
          <p:nvPr/>
        </p:nvGraphicFramePr>
        <p:xfrm>
          <a:off x="8766310" y="748679"/>
          <a:ext cx="3035300" cy="3163764"/>
        </p:xfrm>
        <a:graphic>
          <a:graphicData uri="http://schemas.openxmlformats.org/drawingml/2006/table">
            <a:tbl>
              <a:tblPr/>
              <a:tblGrid>
                <a:gridCol w="1701800">
                  <a:extLst>
                    <a:ext uri="{9D8B030D-6E8A-4147-A177-3AD203B41FA5}">
                      <a16:colId xmlns:a16="http://schemas.microsoft.com/office/drawing/2014/main" val="271409308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19598212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69360486"/>
                    </a:ext>
                  </a:extLst>
                </a:gridCol>
              </a:tblGrid>
              <a:tr h="30288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OUTPUT-PL Q4.25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PL all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%ANR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3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289422"/>
                  </a:ext>
                </a:extLst>
              </a:tr>
              <a:tr h="18041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Spending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23.38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376839"/>
                  </a:ext>
                </a:extLst>
              </a:tr>
              <a:tr h="18041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ANR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0.85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37131"/>
                  </a:ext>
                </a:extLst>
              </a:tr>
              <a:tr h="18041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TOI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1.25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29.4%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773296"/>
                  </a:ext>
                </a:extLst>
              </a:tr>
              <a:tr h="18041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Net interest income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0.20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64921"/>
                  </a:ext>
                </a:extLst>
              </a:tr>
              <a:tr h="18041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Net fee income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1.06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24.8%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5440420"/>
                  </a:ext>
                </a:extLst>
              </a:tr>
              <a:tr h="18041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Other income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-  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257736"/>
                  </a:ext>
                </a:extLst>
              </a:tr>
              <a:tr h="18041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PROVISION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(1.07)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-25.2%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096766"/>
                  </a:ext>
                </a:extLst>
              </a:tr>
              <a:tr h="18041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OPEX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(0.60)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-14.0%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72044"/>
                  </a:ext>
                </a:extLst>
              </a:tr>
              <a:tr h="18041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Sales &amp; Marketing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(0.14)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-3.2%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121131"/>
                  </a:ext>
                </a:extLst>
              </a:tr>
              <a:tr h="18041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UW &amp; Disbursal cost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(0.05)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-1.2%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480041"/>
                  </a:ext>
                </a:extLst>
              </a:tr>
              <a:tr h="18041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Collection &amp; After-sales services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(0.29)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-6.8%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722396"/>
                  </a:ext>
                </a:extLst>
              </a:tr>
              <a:tr h="18041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Support unit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(0.11)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-2.7%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394162"/>
                  </a:ext>
                </a:extLst>
              </a:tr>
              <a:tr h="18041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PBT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(0.41)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-9.7%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200908"/>
                  </a:ext>
                </a:extLst>
              </a:tr>
              <a:tr h="35424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Profit before support cost (PBSC)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(0.30)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1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-7.1%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68050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EEE8C04-D1F7-9936-6220-151639F87D37}"/>
              </a:ext>
            </a:extLst>
          </p:cNvPr>
          <p:cNvGraphicFramePr>
            <a:graphicFrameLocks noGrp="1"/>
          </p:cNvGraphicFramePr>
          <p:nvPr/>
        </p:nvGraphicFramePr>
        <p:xfrm>
          <a:off x="390390" y="4084170"/>
          <a:ext cx="7909560" cy="2195565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70412475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97037923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412663398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43364243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12425105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3268667664"/>
                    </a:ext>
                  </a:extLst>
                </a:gridCol>
              </a:tblGrid>
              <a:tr h="2905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INPUT-PL Q1.26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PL all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MWG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VNPAY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BE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VDS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2945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Spending/</a:t>
                      </a:r>
                      <a:r>
                        <a:rPr lang="en-US" sz="1100" b="0" i="0" u="none" strike="noStrike" err="1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actived</a:t>
                      </a: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card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1.06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1.68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0.97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6162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IR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47.8%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55.0%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39.0%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39.0%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7389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COF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3292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Monthly fee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 0.03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0.02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0.03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0.03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0.03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3134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Revolving rate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69.8%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77.8%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68.5%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71.3%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72.3%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0899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Activated rate at Month1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63.9%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73.4%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68.0%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76.8%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51.1%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5391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Activated rate at Month4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60.6%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68.2%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64.3%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71.6%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49.8%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13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% installment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34.7%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59.9%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1.7%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6.2%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2460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B0 - B1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6.1%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7.4%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0144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B0-B4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2.7%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3459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E8DC163-7C57-A2ED-2FA1-C1017C507EDA}"/>
              </a:ext>
            </a:extLst>
          </p:cNvPr>
          <p:cNvGraphicFramePr>
            <a:graphicFrameLocks noGrp="1"/>
          </p:cNvGraphicFramePr>
          <p:nvPr/>
        </p:nvGraphicFramePr>
        <p:xfrm>
          <a:off x="8766309" y="4084170"/>
          <a:ext cx="3035299" cy="2214615"/>
        </p:xfrm>
        <a:graphic>
          <a:graphicData uri="http://schemas.openxmlformats.org/drawingml/2006/table">
            <a:tbl>
              <a:tblPr/>
              <a:tblGrid>
                <a:gridCol w="2265369">
                  <a:extLst>
                    <a:ext uri="{9D8B030D-6E8A-4147-A177-3AD203B41FA5}">
                      <a16:colId xmlns:a16="http://schemas.microsoft.com/office/drawing/2014/main" val="307142137"/>
                    </a:ext>
                  </a:extLst>
                </a:gridCol>
                <a:gridCol w="769930">
                  <a:extLst>
                    <a:ext uri="{9D8B030D-6E8A-4147-A177-3AD203B41FA5}">
                      <a16:colId xmlns:a16="http://schemas.microsoft.com/office/drawing/2014/main" val="4264542995"/>
                    </a:ext>
                  </a:extLst>
                </a:gridCol>
              </a:tblGrid>
              <a:tr h="29691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INPUT-PL Q4.25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e Vietnam" panose="00000500000000000000" pitchFamily="50" charset="0"/>
                        </a:rPr>
                        <a:t>PL all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9399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Spending/actived card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0.69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15583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IR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41.5%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7754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COF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569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Monthlyfee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          0.03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1054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Revolving rate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51.2%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238174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Activated rate at Month1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66.5%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127547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Activated rate at Month4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59.1%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0943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% installment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37.5%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929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B0 - B1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3.5%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5896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B0-B4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221F6E"/>
                          </a:solidFill>
                          <a:effectLst/>
                          <a:latin typeface="be Vietnam" panose="00000500000000000000" pitchFamily="50" charset="0"/>
                        </a:rPr>
                        <a:t>2.6%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14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0791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pink background with a cube&#10;&#10;Description automatically generated">
            <a:extLst>
              <a:ext uri="{FF2B5EF4-FFF2-40B4-BE49-F238E27FC236}">
                <a16:creationId xmlns:a16="http://schemas.microsoft.com/office/drawing/2014/main" id="{2A61FE82-49E1-554A-94D6-19D6F330F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268700"/>
            <a:ext cx="12192000" cy="81267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FD0F2F-51AD-9E5A-EC2C-6C21BA878E6F}"/>
              </a:ext>
            </a:extLst>
          </p:cNvPr>
          <p:cNvSpPr txBox="1"/>
          <p:nvPr/>
        </p:nvSpPr>
        <p:spPr>
          <a:xfrm>
            <a:off x="451682" y="2323661"/>
            <a:ext cx="69711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/>
                </a:solidFill>
                <a:latin typeface="Barlow ExtraBold" panose="00000900000000000000" pitchFamily="2" charset="0"/>
              </a:rPr>
              <a:t>THANK YOU</a:t>
            </a:r>
          </a:p>
        </p:txBody>
      </p:sp>
      <p:pic>
        <p:nvPicPr>
          <p:cNvPr id="6" name="Picture 5" descr="A cartoon of a white monster with pink headphones&#10;&#10;Description automatically generated">
            <a:extLst>
              <a:ext uri="{FF2B5EF4-FFF2-40B4-BE49-F238E27FC236}">
                <a16:creationId xmlns:a16="http://schemas.microsoft.com/office/drawing/2014/main" id="{DAA700D4-318B-0496-BA01-780AA0C8BC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636" y="-381832"/>
            <a:ext cx="5584371" cy="541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653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c922acb-b38d-4d71-ae2c-ef6c22b1542d}" enabled="1" method="Privileged" siteId="{9dd3e623-09fb-4fbf-8937-a6f939a1b34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2476</Words>
  <Application>Microsoft Macintosh PowerPoint</Application>
  <PresentationFormat>Widescreen</PresentationFormat>
  <Paragraphs>1044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Aptos Narrow</vt:lpstr>
      <vt:lpstr>Arial</vt:lpstr>
      <vt:lpstr>Barlow ExtraBold</vt:lpstr>
      <vt:lpstr>be Vietnam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Hồ Đình Đạm (Head of Lending Product)</dc:creator>
  <cp:lastModifiedBy>Hồ Đình Đạm (Head of Lending Product)</cp:lastModifiedBy>
  <cp:revision>2</cp:revision>
  <dcterms:created xsi:type="dcterms:W3CDTF">2026-05-05T11:40:59Z</dcterms:created>
  <dcterms:modified xsi:type="dcterms:W3CDTF">2026-05-05T11:42:06Z</dcterms:modified>
</cp:coreProperties>
</file>