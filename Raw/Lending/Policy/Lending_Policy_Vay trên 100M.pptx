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618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4"/>
  </p:normalViewPr>
  <p:slideViewPr>
    <p:cSldViewPr snapToGrid="0">
      <p:cViewPr varScale="1">
        <p:scale>
          <a:sx n="115" d="100"/>
          <a:sy n="115" d="100"/>
        </p:scale>
        <p:origin x="50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987552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6152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A843"/>
                </a:solidFill>
                <a:latin typeface="Calibri"/>
              </a:rPr>
              <a:t>3 quyết định chính sách cần phê duyệt – Cho vay trên 100 triệu đồng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Executive Summary  |  Lending Product Team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3840480" cy="5376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64008" cy="537667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" y="1188720"/>
            <a:ext cx="420624" cy="32918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" y="1188720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1188720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KYC 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1444752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8D"/>
                </a:solidFill>
                <a:latin typeface="Calibri"/>
              </a:rPr>
              <a:t>Identity Verification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" y="1737360"/>
            <a:ext cx="1691640" cy="21945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" y="173736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Luật TCTD 2024 Đ.102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76856" y="1737360"/>
            <a:ext cx="1691640" cy="219456"/>
          </a:xfrm>
          <a:prstGeom prst="rect">
            <a:avLst/>
          </a:prstGeom>
          <a:solidFill>
            <a:srgbClr val="2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76856" y="173736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TT 27/2025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" y="2066543"/>
            <a:ext cx="3584448" cy="18288"/>
          </a:xfrm>
          <a:prstGeom prst="rect">
            <a:avLst/>
          </a:prstGeom>
          <a:solidFill>
            <a:srgbClr val="DD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8056" y="2313432"/>
            <a:ext cx="54864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TextBox 19"/>
          <p:cNvSpPr txBox="1"/>
          <p:nvPr/>
        </p:nvSpPr>
        <p:spPr>
          <a:xfrm>
            <a:off x="557784" y="2148839"/>
            <a:ext cx="3529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Yêu cầu xác minh danh tính trực tiếp với khoản vay ≥100 triệu đồng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" y="2953512"/>
            <a:ext cx="54864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557784" y="2788920"/>
            <a:ext cx="3529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eKYC 100% online hiện tại CHƯA đáp ứng yêu cầu pháp lý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" y="3520439"/>
            <a:ext cx="3584448" cy="182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448056" y="3621024"/>
            <a:ext cx="35844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7377"/>
                </a:solidFill>
                <a:latin typeface="Calibri"/>
              </a:rPr>
              <a:t>DECISIONS NEEDED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" y="4096511"/>
            <a:ext cx="54864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557784" y="3931920"/>
            <a:ext cx="3529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Tần suất: 1 lần/vòng đời khoản vay hay mỗi lần giải ngân ≥100M?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4919472"/>
            <a:ext cx="54864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557784" y="4754880"/>
            <a:ext cx="3529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err="1">
                <a:solidFill>
                  <a:srgbClr val="1E2A35"/>
                </a:solidFill>
                <a:latin typeface="Calibri"/>
              </a:rPr>
              <a:t>Kênh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thực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hiện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: CTV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đến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KH hay KH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đến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điểm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MWG/VNPOST</a:t>
            </a:r>
            <a:r>
              <a:rPr lang="vi-VN" sz="1200" b="0" i="0">
                <a:solidFill>
                  <a:srgbClr val="1E2A35"/>
                </a:solidFill>
                <a:latin typeface="Calibri"/>
              </a:rPr>
              <a:t> hay hybrid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1097280"/>
            <a:ext cx="3840480" cy="5376672"/>
          </a:xfrm>
          <a:prstGeom prst="rect">
            <a:avLst/>
          </a:prstGeom>
          <a:solidFill>
            <a:srgbClr val="FD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51960" y="1097280"/>
            <a:ext cx="64008" cy="5376672"/>
          </a:xfrm>
          <a:prstGeom prst="rect">
            <a:avLst/>
          </a:prstGeom>
          <a:solidFill>
            <a:srgbClr val="C4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79976" y="1188720"/>
            <a:ext cx="420624" cy="329184"/>
          </a:xfrm>
          <a:prstGeom prst="rect">
            <a:avLst/>
          </a:prstGeom>
          <a:solidFill>
            <a:srgbClr val="C4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79976" y="1188720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3752" y="1188720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CM MỤC ĐÍCH SỬ DỤNG VỐN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3752" y="1444752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8D"/>
                </a:solidFill>
                <a:latin typeface="Calibri"/>
              </a:rPr>
              <a:t>Proof of Fund Usage (MĐSDV)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9976" y="1737360"/>
            <a:ext cx="1691640" cy="219456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79976" y="1737360"/>
            <a:ext cx="16916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TT 12/2024</a:t>
            </a:r>
            <a:r>
              <a:rPr lang="vi-VN" sz="750" b="1" i="0">
                <a:solidFill>
                  <a:srgbClr val="FFFFFF"/>
                </a:solidFill>
                <a:latin typeface="Calibri"/>
              </a:rPr>
              <a:t>; TT39/2016</a:t>
            </a:r>
            <a:endParaRPr sz="7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208776" y="1737360"/>
            <a:ext cx="1691640" cy="21945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08776" y="173736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Dự thảo TT 400M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79976" y="2066543"/>
            <a:ext cx="3584448" cy="18288"/>
          </a:xfrm>
          <a:prstGeom prst="rect">
            <a:avLst/>
          </a:prstGeom>
          <a:solidFill>
            <a:srgbClr val="DD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79976" y="2313432"/>
            <a:ext cx="54864" cy="54864"/>
          </a:xfrm>
          <a:prstGeom prst="rect">
            <a:avLst/>
          </a:prstGeom>
          <a:solidFill>
            <a:srgbClr val="C4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1" name="TextBox 40"/>
          <p:cNvSpPr txBox="1"/>
          <p:nvPr/>
        </p:nvSpPr>
        <p:spPr>
          <a:xfrm>
            <a:off x="4489704" y="2148839"/>
            <a:ext cx="3529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TT12/2024 bắt buộc thu thập &amp; kiểm tra chứng từ MĐSDV từ 01/07/2024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79976" y="2953512"/>
            <a:ext cx="54864" cy="54864"/>
          </a:xfrm>
          <a:prstGeom prst="rect">
            <a:avLst/>
          </a:prstGeom>
          <a:solidFill>
            <a:srgbClr val="C4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3" name="TextBox 42"/>
          <p:cNvSpPr txBox="1"/>
          <p:nvPr/>
        </p:nvSpPr>
        <p:spPr>
          <a:xfrm>
            <a:off x="4489704" y="2788920"/>
            <a:ext cx="3529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Dự thảo TT sửa đổi: miễn MĐSDV nếu vay ≤400M (đang lấy ý kiến)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79976" y="3520439"/>
            <a:ext cx="3584448" cy="182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5" name="TextBox 44"/>
          <p:cNvSpPr txBox="1"/>
          <p:nvPr/>
        </p:nvSpPr>
        <p:spPr>
          <a:xfrm>
            <a:off x="4379976" y="3621024"/>
            <a:ext cx="35844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6E1A"/>
                </a:solidFill>
                <a:latin typeface="Calibri"/>
              </a:rPr>
              <a:t>DECISIONS NEEDED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79976" y="4096511"/>
            <a:ext cx="54864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7" name="TextBox 46"/>
          <p:cNvSpPr txBox="1"/>
          <p:nvPr/>
        </p:nvSpPr>
        <p:spPr>
          <a:xfrm>
            <a:off x="4489704" y="3931920"/>
            <a:ext cx="3529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Validate: Risk Engine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tự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động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hay Human (Risk team)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kiểm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tra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79976" y="4919472"/>
            <a:ext cx="54864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9" name="TextBox 48"/>
          <p:cNvSpPr txBox="1"/>
          <p:nvPr/>
        </p:nvSpPr>
        <p:spPr>
          <a:xfrm>
            <a:off x="4489704" y="4754880"/>
            <a:ext cx="3529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Timing: Validate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ngay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hay Phase 1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không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validate (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chờ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TT 400M)?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3879" y="1097280"/>
            <a:ext cx="3840480" cy="5376672"/>
          </a:xfrm>
          <a:prstGeom prst="rect">
            <a:avLst/>
          </a:prstGeom>
          <a:solidFill>
            <a:srgbClr val="F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183879" y="1097280"/>
            <a:ext cx="64008" cy="5376672"/>
          </a:xfrm>
          <a:prstGeom prst="rect">
            <a:avLst/>
          </a:prstGeom>
          <a:solidFill>
            <a:srgbClr val="6B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311896" y="1188720"/>
            <a:ext cx="420624" cy="329184"/>
          </a:xfrm>
          <a:prstGeom prst="rect">
            <a:avLst/>
          </a:prstGeom>
          <a:solidFill>
            <a:srgbClr val="6B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11896" y="1188720"/>
            <a:ext cx="4206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05672" y="1188720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CM TÀI CHÍNH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05672" y="1444752"/>
            <a:ext cx="3145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B8D"/>
                </a:solidFill>
                <a:latin typeface="Calibri"/>
              </a:rPr>
              <a:t>Financial Proof Documents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11896" y="1737360"/>
            <a:ext cx="1691640" cy="219456"/>
          </a:xfrm>
          <a:prstGeom prst="rect">
            <a:avLst/>
          </a:prstGeom>
          <a:solidFill>
            <a:srgbClr val="2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11896" y="1737360"/>
            <a:ext cx="16916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750" b="1">
                <a:solidFill>
                  <a:srgbClr val="FFFFFF"/>
                </a:solidFill>
                <a:latin typeface="Calibri"/>
              </a:rPr>
              <a:t>TT12/2024; </a:t>
            </a:r>
            <a:r>
              <a:rPr sz="750" b="1" i="0">
                <a:solidFill>
                  <a:srgbClr val="FFFFFF"/>
                </a:solidFill>
                <a:latin typeface="Calibri"/>
              </a:rPr>
              <a:t>TT 39/2016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0696" y="1737360"/>
            <a:ext cx="1691640" cy="219456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140696" y="1737360"/>
            <a:ext cx="169164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err="1">
                <a:solidFill>
                  <a:srgbClr val="FFFFFF"/>
                </a:solidFill>
                <a:latin typeface="Calibri"/>
              </a:rPr>
              <a:t>Nội</a:t>
            </a:r>
            <a:r>
              <a:rPr sz="750" b="1" i="0">
                <a:solidFill>
                  <a:srgbClr val="FFFFFF"/>
                </a:solidFill>
                <a:latin typeface="Calibri"/>
              </a:rPr>
              <a:t> </a:t>
            </a:r>
            <a:r>
              <a:rPr sz="750" b="1" i="0" err="1">
                <a:solidFill>
                  <a:srgbClr val="FFFFFF"/>
                </a:solidFill>
                <a:latin typeface="Calibri"/>
              </a:rPr>
              <a:t>bộ</a:t>
            </a:r>
            <a:r>
              <a:rPr sz="750" b="1" i="0">
                <a:solidFill>
                  <a:srgbClr val="FFFFFF"/>
                </a:solidFill>
                <a:latin typeface="Calibri"/>
              </a:rPr>
              <a:t> </a:t>
            </a:r>
            <a:r>
              <a:rPr lang="vi-VN" sz="750" b="1">
                <a:solidFill>
                  <a:srgbClr val="FFFFFF"/>
                </a:solidFill>
                <a:latin typeface="Calibri"/>
              </a:rPr>
              <a:t>Cake</a:t>
            </a:r>
            <a:endParaRPr sz="7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311896" y="2066543"/>
            <a:ext cx="3584448" cy="18288"/>
          </a:xfrm>
          <a:prstGeom prst="rect">
            <a:avLst/>
          </a:prstGeom>
          <a:solidFill>
            <a:srgbClr val="DD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311896" y="2313432"/>
            <a:ext cx="54864" cy="54864"/>
          </a:xfrm>
          <a:prstGeom prst="rect">
            <a:avLst/>
          </a:prstGeom>
          <a:solidFill>
            <a:srgbClr val="6B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2" name="TextBox 61"/>
          <p:cNvSpPr txBox="1"/>
          <p:nvPr/>
        </p:nvSpPr>
        <p:spPr>
          <a:xfrm>
            <a:off x="8421624" y="2148839"/>
            <a:ext cx="3529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Cần thu thập bằng chứng năng lực tài chính của KH (payslip, sao kê...)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11896" y="2953512"/>
            <a:ext cx="54864" cy="54864"/>
          </a:xfrm>
          <a:prstGeom prst="rect">
            <a:avLst/>
          </a:prstGeom>
          <a:solidFill>
            <a:srgbClr val="6B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4" name="TextBox 63"/>
          <p:cNvSpPr txBox="1"/>
          <p:nvPr/>
        </p:nvSpPr>
        <p:spPr>
          <a:xfrm>
            <a:off x="8421624" y="2788920"/>
            <a:ext cx="3529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Hiện tại chưa có quy trình chuẩn hóa loại giấy tờ &amp; cách kiểm tra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11896" y="3520439"/>
            <a:ext cx="3584448" cy="182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6" name="TextBox 65"/>
          <p:cNvSpPr txBox="1"/>
          <p:nvPr/>
        </p:nvSpPr>
        <p:spPr>
          <a:xfrm>
            <a:off x="8311896" y="3621024"/>
            <a:ext cx="35844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4E7A"/>
                </a:solidFill>
                <a:latin typeface="Calibri"/>
              </a:rPr>
              <a:t>DECISIONS NEEDED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11896" y="4096511"/>
            <a:ext cx="54864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8" name="TextBox 67"/>
          <p:cNvSpPr txBox="1"/>
          <p:nvPr/>
        </p:nvSpPr>
        <p:spPr>
          <a:xfrm>
            <a:off x="8421624" y="3931920"/>
            <a:ext cx="3529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rgbClr val="1E2A35"/>
                </a:solidFill>
              </a:rPr>
              <a:t>Validate: Risk Engine </a:t>
            </a:r>
            <a:r>
              <a:rPr lang="en-US" sz="1200" err="1">
                <a:solidFill>
                  <a:srgbClr val="1E2A35"/>
                </a:solidFill>
              </a:rPr>
              <a:t>tự</a:t>
            </a:r>
            <a:r>
              <a:rPr lang="en-US" sz="1200">
                <a:solidFill>
                  <a:srgbClr val="1E2A35"/>
                </a:solidFill>
              </a:rPr>
              <a:t> </a:t>
            </a:r>
            <a:r>
              <a:rPr lang="en-US" sz="1200" err="1">
                <a:solidFill>
                  <a:srgbClr val="1E2A35"/>
                </a:solidFill>
              </a:rPr>
              <a:t>động</a:t>
            </a:r>
            <a:r>
              <a:rPr lang="en-US" sz="1200">
                <a:solidFill>
                  <a:srgbClr val="1E2A35"/>
                </a:solidFill>
              </a:rPr>
              <a:t> hay Human (Risk team) </a:t>
            </a:r>
            <a:r>
              <a:rPr lang="en-US" sz="1200" err="1">
                <a:solidFill>
                  <a:srgbClr val="1E2A35"/>
                </a:solidFill>
              </a:rPr>
              <a:t>kiểm</a:t>
            </a:r>
            <a:r>
              <a:rPr lang="en-US" sz="1200">
                <a:solidFill>
                  <a:srgbClr val="1E2A35"/>
                </a:solidFill>
              </a:rPr>
              <a:t> </a:t>
            </a:r>
            <a:r>
              <a:rPr lang="en-US" sz="1200" err="1">
                <a:solidFill>
                  <a:srgbClr val="1E2A35"/>
                </a:solidFill>
              </a:rPr>
              <a:t>tra</a:t>
            </a:r>
            <a:r>
              <a:rPr lang="en-US" sz="1200">
                <a:solidFill>
                  <a:srgbClr val="1E2A35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987552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6152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HIGH LEVEL LENDING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A843"/>
                </a:solidFill>
                <a:latin typeface="Calibri"/>
              </a:rPr>
              <a:t>Quy trình cho vay trên 100 triệu đồng – điểm quyết định theo từng bước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Lending Process Overview  |  Lending Product Team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1316736" cy="1737360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1316736" cy="45720"/>
          </a:xfrm>
          <a:prstGeom prst="rect">
            <a:avLst/>
          </a:prstGeom>
          <a:solidFill>
            <a:srgbClr val="3A4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74904" y="1271016"/>
            <a:ext cx="292608" cy="2468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" y="1271016"/>
            <a:ext cx="292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A35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1261872"/>
            <a:ext cx="8595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Đăng ký
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1901952"/>
            <a:ext cx="1170432" cy="18288"/>
          </a:xfrm>
          <a:prstGeom prst="rect">
            <a:avLst/>
          </a:prstGeom>
          <a:solidFill>
            <a:srgbClr val="3A4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" y="1975104"/>
            <a:ext cx="1170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BAA8"/>
                </a:solidFill>
                <a:latin typeface="Calibri"/>
              </a:rPr>
              <a:t>KH apply online
qua app Cake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1918411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843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1188720"/>
            <a:ext cx="1316736" cy="17373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37360" y="1188720"/>
            <a:ext cx="1316736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92224" y="1271016"/>
            <a:ext cx="292608" cy="2468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92224" y="1271016"/>
            <a:ext cx="292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A35"/>
                </a:solidFill>
                <a:latin typeface="Calibri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78608" y="1271016"/>
            <a:ext cx="402336" cy="201168"/>
          </a:xfrm>
          <a:prstGeom prst="rect">
            <a:avLst/>
          </a:prstGeom>
          <a:solidFill>
            <a:srgbClr val="C4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78608" y="1271016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1261872"/>
            <a:ext cx="8595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
≥100 triệu?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10512" y="1901952"/>
            <a:ext cx="1170432" cy="182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10512" y="1975104"/>
            <a:ext cx="1170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Khoản vay có
≥100M không?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39" y="1918411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843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1188720"/>
            <a:ext cx="1316736" cy="17373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154680" y="1188720"/>
            <a:ext cx="1316736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9544" y="1271016"/>
            <a:ext cx="292608" cy="2468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9544" y="1271016"/>
            <a:ext cx="292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A35"/>
                </a:solidFill>
                <a:latin typeface="Calibri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95928" y="1271016"/>
            <a:ext cx="402336" cy="201168"/>
          </a:xfrm>
          <a:prstGeom prst="rect">
            <a:avLst/>
          </a:prstGeom>
          <a:solidFill>
            <a:srgbClr val="C4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95928" y="1271016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7016" y="1261872"/>
            <a:ext cx="8595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Thu giấy tờ
MĐSDV + CM TC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27832" y="1901952"/>
            <a:ext cx="1170432" cy="182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27832" y="1975104"/>
            <a:ext cx="1170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Nếu ≥100M:
cung cấp chứng từ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1918411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843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3054096"/>
            <a:ext cx="1316736" cy="3657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54680" y="3054096"/>
            <a:ext cx="1316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A35"/>
                </a:solidFill>
                <a:latin typeface="Calibri"/>
              </a:rPr>
              <a:t>Decision
02 + 03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1188720"/>
            <a:ext cx="1316736" cy="1737360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0" y="1188720"/>
            <a:ext cx="1316736" cy="45720"/>
          </a:xfrm>
          <a:prstGeom prst="rect">
            <a:avLst/>
          </a:prstGeom>
          <a:solidFill>
            <a:srgbClr val="3A4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626864" y="1271016"/>
            <a:ext cx="292608" cy="2468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26864" y="1271016"/>
            <a:ext cx="292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A35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1261872"/>
            <a:ext cx="8595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LOS Thẩm định
&amp; Phê duyệt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45152" y="1901952"/>
            <a:ext cx="1170432" cy="18288"/>
          </a:xfrm>
          <a:prstGeom prst="rect">
            <a:avLst/>
          </a:prstGeom>
          <a:solidFill>
            <a:srgbClr val="3A4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45152" y="1975104"/>
            <a:ext cx="1170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BAA8"/>
                </a:solidFill>
                <a:latin typeface="Calibri"/>
              </a:rPr>
              <a:t>Risk Engine +
Credit team xét duyệt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79" y="1918411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843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1188720"/>
            <a:ext cx="1316736" cy="17373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89320" y="1188720"/>
            <a:ext cx="1316736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044183" y="1271016"/>
            <a:ext cx="292608" cy="2468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44183" y="1271016"/>
            <a:ext cx="292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A35"/>
                </a:solidFill>
                <a:latin typeface="Calibri"/>
              </a:rPr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30568" y="1271016"/>
            <a:ext cx="402336" cy="201168"/>
          </a:xfrm>
          <a:prstGeom prst="rect">
            <a:avLst/>
          </a:prstGeom>
          <a:solidFill>
            <a:srgbClr val="C4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30568" y="1271016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91656" y="1261872"/>
            <a:ext cx="8595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Yêu cầu
KYC Offline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62472" y="1901952"/>
            <a:ext cx="1170432" cy="182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62472" y="1975104"/>
            <a:ext cx="1170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Nếu duyệt ≥100M:
yêu cầu KYC offline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1918411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843"/>
                </a:solidFill>
                <a:latin typeface="Calibri"/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3054096"/>
            <a:ext cx="1316736" cy="3657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89320" y="3054096"/>
            <a:ext cx="1316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A35"/>
                </a:solidFill>
                <a:latin typeface="Calibri"/>
              </a:rPr>
              <a:t>Decision
01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1188720"/>
            <a:ext cx="1316736" cy="17373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406640" y="1188720"/>
            <a:ext cx="1316736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461504" y="1271016"/>
            <a:ext cx="292608" cy="2468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61504" y="1271016"/>
            <a:ext cx="292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A35"/>
                </a:solidFill>
                <a:latin typeface="Calibri"/>
              </a:rPr>
              <a:t>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47888" y="1271016"/>
            <a:ext cx="402336" cy="201168"/>
          </a:xfrm>
          <a:prstGeom prst="rect">
            <a:avLst/>
          </a:prstGeom>
          <a:solidFill>
            <a:srgbClr val="C4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47888" y="1271016"/>
            <a:ext cx="402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08975" y="1261872"/>
            <a:ext cx="8595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KYC Offline
Approved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79792" y="1901952"/>
            <a:ext cx="1170432" cy="182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79792" y="1975104"/>
            <a:ext cx="1170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CTV xác minh
danh tính thành công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19" y="1918411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843"/>
                </a:solidFill>
                <a:latin typeface="Calibri"/>
              </a:rPr>
              <a:t>→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23960" y="1188720"/>
            <a:ext cx="1316736" cy="1737360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823960" y="1188720"/>
            <a:ext cx="1316736" cy="45720"/>
          </a:xfrm>
          <a:prstGeom prst="rect">
            <a:avLst/>
          </a:prstGeom>
          <a:solidFill>
            <a:srgbClr val="3A4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878824" y="1271016"/>
            <a:ext cx="292608" cy="2468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878824" y="1271016"/>
            <a:ext cx="292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A35"/>
                </a:solidFill>
                <a:latin typeface="Calibri"/>
              </a:rPr>
              <a:t>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26296" y="1261872"/>
            <a:ext cx="8595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E-sign &amp;
Disbursement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97112" y="1901952"/>
            <a:ext cx="1170432" cy="18288"/>
          </a:xfrm>
          <a:prstGeom prst="rect">
            <a:avLst/>
          </a:prstGeom>
          <a:solidFill>
            <a:srgbClr val="3A4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897112" y="1975104"/>
            <a:ext cx="1170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BAA8"/>
                </a:solidFill>
                <a:latin typeface="Calibri"/>
              </a:rPr>
              <a:t>KH ký điện tử
và giải ngân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49840" y="1918411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843"/>
                </a:solidFill>
                <a:latin typeface="Calibri"/>
              </a:rPr>
              <a:t>→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241280" y="1188720"/>
            <a:ext cx="1316736" cy="1737360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241280" y="1188720"/>
            <a:ext cx="1316736" cy="45720"/>
          </a:xfrm>
          <a:prstGeom prst="rect">
            <a:avLst/>
          </a:prstGeom>
          <a:solidFill>
            <a:srgbClr val="3A4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296144" y="1271016"/>
            <a:ext cx="292608" cy="2468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296144" y="1271016"/>
            <a:ext cx="292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2A35"/>
                </a:solidFill>
                <a:latin typeface="Calibri"/>
              </a:rPr>
              <a:t>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43615" y="1261872"/>
            <a:ext cx="8595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Kiểm soát
sau vay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314432" y="1901952"/>
            <a:ext cx="1170432" cy="18288"/>
          </a:xfrm>
          <a:prstGeom prst="rect">
            <a:avLst/>
          </a:prstGeom>
          <a:solidFill>
            <a:srgbClr val="3A4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314432" y="1975104"/>
            <a:ext cx="1170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BAA8"/>
                </a:solidFill>
                <a:latin typeface="Calibri"/>
              </a:rPr>
              <a:t>Email notification
định kỳ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3566160"/>
            <a:ext cx="237744" cy="20116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21792" y="3566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A35"/>
                </a:solidFill>
                <a:latin typeface="Calibri"/>
              </a:rPr>
              <a:t>= Bước mới (NEW)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08960" y="3566160"/>
            <a:ext cx="237744" cy="201168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410712" y="35661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A35"/>
                </a:solidFill>
                <a:latin typeface="Calibri"/>
              </a:rPr>
              <a:t>= Bước hiện tại (Standard)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92240" y="3566160"/>
            <a:ext cx="237744" cy="20116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793992" y="35661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A35"/>
                </a:solidFill>
                <a:latin typeface="Calibri"/>
              </a:rPr>
              <a:t>= Điểm quyết định (Decision needed)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3895344"/>
            <a:ext cx="11521440" cy="658368"/>
          </a:xfrm>
          <a:prstGeom prst="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320040" y="3895344"/>
            <a:ext cx="45720" cy="65836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38912" y="393192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A35"/>
                </a:solidFill>
                <a:latin typeface="Calibri"/>
              </a:rPr>
              <a:t>Phạm vi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áp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dụng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: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Khoản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vay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cá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nhân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≥100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triệu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đồng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| KH ODTD, Salary,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Hộ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Kinh Doanh, KH mass qua MWG/VNPOST
Quy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trình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mới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bổ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sung 4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bước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(2, 3, 5, 6) so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với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luồng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hiện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tại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–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tập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trung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vào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xác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thực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&amp;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tuân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thủ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pháp</a:t>
            </a:r>
            <a:r>
              <a:rPr sz="9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900" b="0" i="0" err="1">
                <a:solidFill>
                  <a:srgbClr val="1E2A35"/>
                </a:solidFill>
                <a:latin typeface="Calibri"/>
              </a:rPr>
              <a:t>lý</a:t>
            </a:r>
            <a:endParaRPr sz="900" b="0" i="0">
              <a:solidFill>
                <a:srgbClr val="1E2A35"/>
              </a:solidFill>
              <a:latin typeface="Calibri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320040" y="4681728"/>
            <a:ext cx="11521440" cy="15361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320040" y="4681728"/>
            <a:ext cx="45720" cy="153619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57200" y="473659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7377"/>
                </a:solidFill>
                <a:latin typeface="Calibri"/>
              </a:rPr>
              <a:t>COMPLIANCE TOUCHPOINTS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047488"/>
            <a:ext cx="640080" cy="21945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57200" y="504748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Bước 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5321808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A35"/>
                </a:solidFill>
                <a:latin typeface="Calibri"/>
              </a:rPr>
              <a:t>Xác định khoản vay ≥100M → trigger toàn bộ quy trình mới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91840" y="5047488"/>
            <a:ext cx="640080" cy="21945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291840" y="504748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Bước 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291840" y="5321808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A35"/>
                </a:solidFill>
                <a:latin typeface="Calibri"/>
              </a:rPr>
              <a:t>Thu MĐSDV + CM Tài chính → Decision 02 &amp; 03 (loại giấy tờ, validate method)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126480" y="5047488"/>
            <a:ext cx="640080" cy="21945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126480" y="504748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Bước 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26480" y="5321808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A35"/>
                </a:solidFill>
                <a:latin typeface="Calibri"/>
              </a:rPr>
              <a:t>Phê duyệt ≥100M → bắt buộc KYC offline → Decision 01 (tần suất &amp; kênh)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61120" y="5047488"/>
            <a:ext cx="640080" cy="21945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961120" y="504748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Bước 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61120" y="5321808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A35"/>
                </a:solidFill>
                <a:latin typeface="Calibri"/>
              </a:rPr>
              <a:t>Kiểm soát sau vay → email định kỳ tháng 3-6-12 + nghĩa vụ KH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987552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6152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01  KYC OFFLINE – 2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Decision 01 – KYC Offline  |  Lending Product Team  | 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261872"/>
            <a:ext cx="11521440" cy="310896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1289304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A35"/>
                </a:solidFill>
                <a:latin typeface="Calibri"/>
              </a:rPr>
              <a:t>DECISION 1  |  Tần suất KYC Offline – Frequency of Offline Verification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36775"/>
            <a:ext cx="5669280" cy="226771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Rectangle 18"/>
          <p:cNvSpPr/>
          <p:nvPr/>
        </p:nvSpPr>
        <p:spPr>
          <a:xfrm>
            <a:off x="274320" y="1636775"/>
            <a:ext cx="64008" cy="226771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" name="Rectangle 19"/>
          <p:cNvSpPr/>
          <p:nvPr/>
        </p:nvSpPr>
        <p:spPr>
          <a:xfrm>
            <a:off x="384048" y="1709928"/>
            <a:ext cx="2926080" cy="25603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384048" y="1709928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 A  –  CAKE </a:t>
            </a:r>
            <a:r>
              <a:rPr lang="vi-VN" sz="1200" b="1">
                <a:solidFill>
                  <a:srgbClr val="FFFFFF"/>
                </a:solidFill>
                <a:latin typeface="Calibri"/>
              </a:rPr>
              <a:t>Preferred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02336" y="2057400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1 lần cho nguyên vòng đời khoản vay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" y="2404872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Once per loan lifecycle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" y="2660904"/>
            <a:ext cx="5413248" cy="18288"/>
          </a:xfrm>
          <a:prstGeom prst="rect">
            <a:avLst/>
          </a:prstGeom>
          <a:solidFill>
            <a:srgbClr val="DD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" name="Rectangle 24"/>
          <p:cNvSpPr/>
          <p:nvPr/>
        </p:nvSpPr>
        <p:spPr>
          <a:xfrm>
            <a:off x="402336" y="2862072"/>
            <a:ext cx="54864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512064" y="2752344"/>
            <a:ext cx="5358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KYC offline 1 lần khi khoản vay đầu tiên ≥100M được duyệt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" y="3191256"/>
            <a:ext cx="54864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512064" y="3081528"/>
            <a:ext cx="5358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Tái sử dụng kết quả KYC cho các lần giải ngân tiếp theo trong cùng hợp đồng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" y="3520440"/>
            <a:ext cx="54864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0" name="TextBox 29"/>
          <p:cNvSpPr txBox="1"/>
          <p:nvPr/>
        </p:nvSpPr>
        <p:spPr>
          <a:xfrm>
            <a:off x="512064" y="3410712"/>
            <a:ext cx="5358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Giảm ma sát cho KH, tăng tỷ lệ hoàn tất hồ sơ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636775"/>
            <a:ext cx="5669280" cy="2267712"/>
          </a:xfrm>
          <a:prstGeom prst="rect">
            <a:avLst/>
          </a:prstGeom>
          <a:solidFill>
            <a:srgbClr val="F2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2" name="Rectangle 31"/>
          <p:cNvSpPr/>
          <p:nvPr/>
        </p:nvSpPr>
        <p:spPr>
          <a:xfrm>
            <a:off x="6035040" y="1636775"/>
            <a:ext cx="64008" cy="2267712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3" name="Rectangle 32"/>
          <p:cNvSpPr/>
          <p:nvPr/>
        </p:nvSpPr>
        <p:spPr>
          <a:xfrm>
            <a:off x="6144768" y="1709928"/>
            <a:ext cx="2926080" cy="256032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6144768" y="1709928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 B  –  </a:t>
            </a:r>
            <a:r>
              <a:rPr sz="1200" b="1" i="0" err="1">
                <a:solidFill>
                  <a:srgbClr val="FFFFFF"/>
                </a:solidFill>
                <a:latin typeface="Calibri"/>
              </a:rPr>
              <a:t>VPBank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 </a:t>
            </a:r>
            <a:r>
              <a:rPr lang="vi-VN" sz="1200" b="1" i="0">
                <a:solidFill>
                  <a:srgbClr val="FFFFFF"/>
                </a:solidFill>
                <a:latin typeface="Calibri"/>
              </a:rPr>
              <a:t> Legal Yêu Cầu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63056" y="2057400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Mỗi lần giải ngân ≥100 triệu đồng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6" y="2404872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Per disbursement ≥100M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63056" y="2660904"/>
            <a:ext cx="5413248" cy="18288"/>
          </a:xfrm>
          <a:prstGeom prst="rect">
            <a:avLst/>
          </a:prstGeom>
          <a:solidFill>
            <a:srgbClr val="DD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8" name="Rectangle 37"/>
          <p:cNvSpPr/>
          <p:nvPr/>
        </p:nvSpPr>
        <p:spPr>
          <a:xfrm>
            <a:off x="6163056" y="2862072"/>
            <a:ext cx="54864" cy="54864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9" name="TextBox 38"/>
          <p:cNvSpPr txBox="1"/>
          <p:nvPr/>
        </p:nvSpPr>
        <p:spPr>
          <a:xfrm>
            <a:off x="6272784" y="2752344"/>
            <a:ext cx="5358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Mỗi lần giải ngân ≥100M đều yêu cầu xác minh danh tính offline lại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63056" y="3191256"/>
            <a:ext cx="54864" cy="54864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1" name="TextBox 40"/>
          <p:cNvSpPr txBox="1"/>
          <p:nvPr/>
        </p:nvSpPr>
        <p:spPr>
          <a:xfrm>
            <a:off x="6272784" y="3081528"/>
            <a:ext cx="5358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Kiểm soát rủi ro chặt chẽ hơn – phát hiện danh tính giả/thay đổi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63056" y="3520440"/>
            <a:ext cx="54864" cy="54864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3" name="TextBox 42"/>
          <p:cNvSpPr txBox="1"/>
          <p:nvPr/>
        </p:nvSpPr>
        <p:spPr>
          <a:xfrm>
            <a:off x="6272784" y="3410712"/>
            <a:ext cx="5358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Ma sát cao hơn cho KH, tỷ lệ dropout tăng; chi phí CTV nhân lên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995928"/>
            <a:ext cx="11521440" cy="310896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5" name="TextBox 44"/>
          <p:cNvSpPr txBox="1"/>
          <p:nvPr/>
        </p:nvSpPr>
        <p:spPr>
          <a:xfrm>
            <a:off x="365760" y="4023360"/>
            <a:ext cx="1133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DECISION 2  |  </a:t>
            </a:r>
            <a:r>
              <a:rPr sz="1200" b="1" i="0" err="1">
                <a:solidFill>
                  <a:srgbClr val="1E2A35"/>
                </a:solidFill>
                <a:latin typeface="Calibri"/>
              </a:rPr>
              <a:t>Kênh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1" i="0" err="1">
                <a:solidFill>
                  <a:srgbClr val="1E2A35"/>
                </a:solidFill>
                <a:latin typeface="Calibri"/>
              </a:rPr>
              <a:t>thực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1" i="0" err="1">
                <a:solidFill>
                  <a:srgbClr val="1E2A35"/>
                </a:solidFill>
                <a:latin typeface="Calibri"/>
              </a:rPr>
              <a:t>hiện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 KYC </a:t>
            </a:r>
            <a:r>
              <a:rPr lang="vi-VN" sz="1200" b="1" i="0">
                <a:solidFill>
                  <a:srgbClr val="1E2A35"/>
                </a:solidFill>
                <a:latin typeface="Calibri"/>
              </a:rPr>
              <a:t>- Hybrid</a:t>
            </a:r>
            <a:endParaRPr sz="1200" b="1" i="0">
              <a:solidFill>
                <a:srgbClr val="1E2A35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74320" y="4379976"/>
            <a:ext cx="5669280" cy="16093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7" name="Rectangle 46"/>
          <p:cNvSpPr/>
          <p:nvPr/>
        </p:nvSpPr>
        <p:spPr>
          <a:xfrm>
            <a:off x="274320" y="4379976"/>
            <a:ext cx="64008" cy="160934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8" name="Rectangle 47"/>
          <p:cNvSpPr/>
          <p:nvPr/>
        </p:nvSpPr>
        <p:spPr>
          <a:xfrm>
            <a:off x="384048" y="4453128"/>
            <a:ext cx="2194560" cy="23774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9" name="TextBox 48"/>
          <p:cNvSpPr txBox="1"/>
          <p:nvPr/>
        </p:nvSpPr>
        <p:spPr>
          <a:xfrm>
            <a:off x="384048" y="4453128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Premium</a:t>
            </a:r>
            <a:r>
              <a:rPr lang="vi-VN" sz="1200" b="1" i="0">
                <a:solidFill>
                  <a:srgbClr val="FFFFFF"/>
                </a:solidFill>
                <a:latin typeface="Calibri"/>
              </a:rPr>
              <a:t> Group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02336" y="4745736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CTV đến tận nhà / văn phòng KH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" y="5221224"/>
            <a:ext cx="4572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2" name="TextBox 51"/>
          <p:cNvSpPr txBox="1"/>
          <p:nvPr/>
        </p:nvSpPr>
        <p:spPr>
          <a:xfrm>
            <a:off x="493776" y="5148072"/>
            <a:ext cx="5376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CTV (Cộng tác viên) đến địa điểm của KH theo lịch hẹn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2336" y="5477256"/>
            <a:ext cx="4572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6" name="TextBox 55"/>
          <p:cNvSpPr txBox="1"/>
          <p:nvPr/>
        </p:nvSpPr>
        <p:spPr>
          <a:xfrm>
            <a:off x="493776" y="5420997"/>
            <a:ext cx="5376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err="1">
                <a:solidFill>
                  <a:srgbClr val="1E2A35"/>
                </a:solidFill>
                <a:latin typeface="Calibri"/>
              </a:rPr>
              <a:t>Phù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hợp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: KH ODTD, Salary,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Hộ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Kinh Doanh (premium segment)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4379976"/>
            <a:ext cx="5669280" cy="1609344"/>
          </a:xfrm>
          <a:prstGeom prst="rect">
            <a:avLst/>
          </a:prstGeom>
          <a:solidFill>
            <a:srgbClr val="F2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8" name="Rectangle 57"/>
          <p:cNvSpPr/>
          <p:nvPr/>
        </p:nvSpPr>
        <p:spPr>
          <a:xfrm>
            <a:off x="6035040" y="4379976"/>
            <a:ext cx="64008" cy="1609344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9" name="Rectangle 58"/>
          <p:cNvSpPr/>
          <p:nvPr/>
        </p:nvSpPr>
        <p:spPr>
          <a:xfrm>
            <a:off x="6144768" y="4453128"/>
            <a:ext cx="2194560" cy="237744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0" name="TextBox 59"/>
          <p:cNvSpPr txBox="1"/>
          <p:nvPr/>
        </p:nvSpPr>
        <p:spPr>
          <a:xfrm>
            <a:off x="5726598" y="4441249"/>
            <a:ext cx="3143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200" b="1" i="0">
                <a:solidFill>
                  <a:srgbClr val="FFFFFF"/>
                </a:solidFill>
                <a:latin typeface="Calibri"/>
              </a:rPr>
              <a:t>Mass Group/Customer Preference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163056" y="4745736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KH </a:t>
            </a:r>
            <a:r>
              <a:rPr sz="1200" b="1" i="0" err="1">
                <a:solidFill>
                  <a:srgbClr val="1E2A35"/>
                </a:solidFill>
                <a:latin typeface="Calibri"/>
              </a:rPr>
              <a:t>đến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1" i="0" err="1">
                <a:solidFill>
                  <a:srgbClr val="1E2A35"/>
                </a:solidFill>
                <a:latin typeface="Calibri"/>
              </a:rPr>
              <a:t>điểm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1" i="0" err="1">
                <a:solidFill>
                  <a:srgbClr val="1E2A35"/>
                </a:solidFill>
                <a:latin typeface="Calibri"/>
              </a:rPr>
              <a:t>giao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1" i="0" err="1">
                <a:solidFill>
                  <a:srgbClr val="1E2A35"/>
                </a:solidFill>
                <a:latin typeface="Calibri"/>
              </a:rPr>
              <a:t>dịch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 MWG / VNPOST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63056" y="5221224"/>
            <a:ext cx="45720" cy="45720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3" name="TextBox 62"/>
          <p:cNvSpPr txBox="1"/>
          <p:nvPr/>
        </p:nvSpPr>
        <p:spPr>
          <a:xfrm>
            <a:off x="6254496" y="5148072"/>
            <a:ext cx="5376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KH chủ động đến điểm hợp tác (MWG / VNPOST gần nhà)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3056" y="5477256"/>
            <a:ext cx="45720" cy="45720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5" name="TextBox 64"/>
          <p:cNvSpPr txBox="1"/>
          <p:nvPr/>
        </p:nvSpPr>
        <p:spPr>
          <a:xfrm>
            <a:off x="6254496" y="5404104"/>
            <a:ext cx="5376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Chi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phí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thấp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hơn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CTV,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dễ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scale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khi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volume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tăng</a:t>
            </a:r>
            <a:endParaRPr sz="1200" b="0" i="0">
              <a:solidFill>
                <a:srgbClr val="1E2A35"/>
              </a:solidFill>
              <a:latin typeface="Calibri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163056" y="5733288"/>
            <a:ext cx="45720" cy="45720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7" name="TextBox 66"/>
          <p:cNvSpPr txBox="1"/>
          <p:nvPr/>
        </p:nvSpPr>
        <p:spPr>
          <a:xfrm>
            <a:off x="6254496" y="5660136"/>
            <a:ext cx="5376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err="1">
                <a:solidFill>
                  <a:srgbClr val="1E2A35"/>
                </a:solidFill>
                <a:latin typeface="Calibri"/>
              </a:rPr>
              <a:t>Phù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hợp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: KH mass segment;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trải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nghiệm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chủ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động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hơn</a:t>
            </a:r>
            <a:endParaRPr sz="1200" b="0" i="0">
              <a:solidFill>
                <a:srgbClr val="1E2A3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987552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6152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02  CM MỤC ĐÍCH SỬ DỤNG VỐN – 2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err="1">
                <a:solidFill>
                  <a:srgbClr val="D4A843"/>
                </a:solidFill>
                <a:latin typeface="Calibri"/>
              </a:rPr>
              <a:t>Chứng</a:t>
            </a:r>
            <a:r>
              <a:rPr sz="1150" b="0" i="0">
                <a:solidFill>
                  <a:srgbClr val="D4A843"/>
                </a:solidFill>
                <a:latin typeface="Calibri"/>
              </a:rPr>
              <a:t> </a:t>
            </a:r>
            <a:r>
              <a:rPr sz="1150" b="0" i="0" err="1">
                <a:solidFill>
                  <a:srgbClr val="D4A843"/>
                </a:solidFill>
                <a:latin typeface="Calibri"/>
              </a:rPr>
              <a:t>minh</a:t>
            </a:r>
            <a:r>
              <a:rPr sz="1150" b="0" i="0">
                <a:solidFill>
                  <a:srgbClr val="D4A843"/>
                </a:solidFill>
                <a:latin typeface="Calibri"/>
              </a:rPr>
              <a:t> MĐSDV | TT 12/2024 + </a:t>
            </a:r>
            <a:r>
              <a:rPr sz="1150" b="0" i="0" err="1">
                <a:solidFill>
                  <a:srgbClr val="D4A843"/>
                </a:solidFill>
                <a:latin typeface="Calibri"/>
              </a:rPr>
              <a:t>Dự</a:t>
            </a:r>
            <a:r>
              <a:rPr sz="1150" b="0" i="0">
                <a:solidFill>
                  <a:srgbClr val="D4A843"/>
                </a:solidFill>
                <a:latin typeface="Calibri"/>
              </a:rPr>
              <a:t> </a:t>
            </a:r>
            <a:r>
              <a:rPr sz="1150" b="0" i="0" err="1">
                <a:solidFill>
                  <a:srgbClr val="D4A843"/>
                </a:solidFill>
                <a:latin typeface="Calibri"/>
              </a:rPr>
              <a:t>thảo</a:t>
            </a:r>
            <a:r>
              <a:rPr sz="1150" b="0" i="0">
                <a:solidFill>
                  <a:srgbClr val="D4A843"/>
                </a:solidFill>
                <a:latin typeface="Calibri"/>
              </a:rPr>
              <a:t> TT </a:t>
            </a:r>
            <a:r>
              <a:rPr sz="1150" b="0" i="0" err="1">
                <a:solidFill>
                  <a:srgbClr val="D4A843"/>
                </a:solidFill>
                <a:latin typeface="Calibri"/>
              </a:rPr>
              <a:t>sửa</a:t>
            </a:r>
            <a:r>
              <a:rPr sz="1150" b="0" i="0">
                <a:solidFill>
                  <a:srgbClr val="D4A843"/>
                </a:solidFill>
                <a:latin typeface="Calibri"/>
              </a:rPr>
              <a:t> </a:t>
            </a:r>
            <a:r>
              <a:rPr sz="1150" b="0" i="0" err="1">
                <a:solidFill>
                  <a:srgbClr val="D4A843"/>
                </a:solidFill>
                <a:latin typeface="Calibri"/>
              </a:rPr>
              <a:t>đổi</a:t>
            </a:r>
            <a:r>
              <a:rPr sz="1150" b="0" i="0">
                <a:solidFill>
                  <a:srgbClr val="D4A843"/>
                </a:solidFill>
                <a:latin typeface="Calibri"/>
              </a:rPr>
              <a:t> </a:t>
            </a:r>
            <a:r>
              <a:rPr sz="1150" b="0" i="0" err="1">
                <a:solidFill>
                  <a:srgbClr val="D4A843"/>
                </a:solidFill>
                <a:latin typeface="Calibri"/>
              </a:rPr>
              <a:t>miễn</a:t>
            </a:r>
            <a:r>
              <a:rPr sz="1150" b="0" i="0">
                <a:solidFill>
                  <a:srgbClr val="D4A843"/>
                </a:solidFill>
                <a:latin typeface="Calibri"/>
              </a:rPr>
              <a:t> MĐSDV ≤400M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Decision 02 – Chứng minh MĐSDV  |  Lending Product Team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11521440" cy="457200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2423160" cy="256032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" name="TextBox 9"/>
          <p:cNvSpPr txBox="1"/>
          <p:nvPr/>
        </p:nvSpPr>
        <p:spPr>
          <a:xfrm>
            <a:off x="411480" y="1170432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TT 12/2024 (01/07/2024)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170432"/>
            <a:ext cx="2423160" cy="256032"/>
          </a:xfrm>
          <a:prstGeom prst="rect">
            <a:avLst/>
          </a:prstGeom>
          <a:solidFill>
            <a:srgbClr val="2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" name="TextBox 11"/>
          <p:cNvSpPr txBox="1"/>
          <p:nvPr/>
        </p:nvSpPr>
        <p:spPr>
          <a:xfrm>
            <a:off x="3017520" y="1170432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TT 39/2016 Đ.7,8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170432"/>
            <a:ext cx="2423160" cy="2560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5623560" y="1170432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Dự thảo TT sửa đổi 400M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170432"/>
            <a:ext cx="3749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843"/>
                </a:solidFill>
                <a:latin typeface="Calibri"/>
              </a:rPr>
              <a:t>→  Bắt buộc thu &amp; kiểm tra chứng từ MĐSDV. Dự thảo TT: miễn nếu vay ≤400M (cơ hội chiến lược!)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64208"/>
            <a:ext cx="11521440" cy="292608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411480" y="1700784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LOẠI GIẤY TỜ  |  Required Documents for MĐSDV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029968"/>
            <a:ext cx="2651760" cy="23774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365760" y="2029968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Hợp đồng mua hàng / dịch vụ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029968"/>
            <a:ext cx="2651760" cy="23774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3200400" y="2029968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err="1">
                <a:solidFill>
                  <a:srgbClr val="FFFFFF"/>
                </a:solidFill>
                <a:latin typeface="Calibri"/>
              </a:rPr>
              <a:t>Hóa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i="0" err="1">
                <a:solidFill>
                  <a:srgbClr val="FFFFFF"/>
                </a:solidFill>
                <a:latin typeface="Calibri"/>
              </a:rPr>
              <a:t>đơn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 / Báo </a:t>
            </a:r>
            <a:r>
              <a:rPr sz="1200" b="1" i="0" err="1">
                <a:solidFill>
                  <a:srgbClr val="FFFFFF"/>
                </a:solidFill>
                <a:latin typeface="Calibri"/>
              </a:rPr>
              <a:t>giá</a:t>
            </a:r>
            <a:r>
              <a:rPr lang="vi-VN" sz="1200" b="1" i="0">
                <a:solidFill>
                  <a:srgbClr val="FFFFFF"/>
                </a:solidFill>
                <a:latin typeface="Calibri"/>
              </a:rPr>
              <a:t>/bảng kê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35040" y="2029968"/>
            <a:ext cx="2651760" cy="237744"/>
          </a:xfrm>
          <a:prstGeom prst="rect">
            <a:avLst/>
          </a:prstGeom>
          <a:solidFill>
            <a:srgbClr val="C4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" name="TextBox 22"/>
          <p:cNvSpPr txBox="1"/>
          <p:nvPr/>
        </p:nvSpPr>
        <p:spPr>
          <a:xfrm>
            <a:off x="6035040" y="2029968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err="1">
                <a:solidFill>
                  <a:srgbClr val="FFFFFF"/>
                </a:solidFill>
                <a:latin typeface="Calibri"/>
              </a:rPr>
              <a:t>Hợp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i="0" err="1">
                <a:solidFill>
                  <a:srgbClr val="FFFFFF"/>
                </a:solidFill>
                <a:latin typeface="Calibri"/>
              </a:rPr>
              <a:t>đồng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i="0" err="1">
                <a:solidFill>
                  <a:srgbClr val="FFFFFF"/>
                </a:solidFill>
                <a:latin typeface="Calibri"/>
              </a:rPr>
              <a:t>sửa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i="0" err="1">
                <a:solidFill>
                  <a:srgbClr val="FFFFFF"/>
                </a:solidFill>
                <a:latin typeface="Calibri"/>
              </a:rPr>
              <a:t>chữa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 / </a:t>
            </a:r>
            <a:r>
              <a:rPr sz="1200" b="1" i="0" err="1">
                <a:solidFill>
                  <a:srgbClr val="FFFFFF"/>
                </a:solidFill>
                <a:latin typeface="Calibri"/>
              </a:rPr>
              <a:t>xây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i="0" err="1">
                <a:solidFill>
                  <a:srgbClr val="FFFFFF"/>
                </a:solidFill>
                <a:latin typeface="Calibri"/>
              </a:rPr>
              <a:t>dựng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869680" y="2029968"/>
            <a:ext cx="2651760" cy="237744"/>
          </a:xfrm>
          <a:prstGeom prst="rect">
            <a:avLst/>
          </a:prstGeom>
          <a:solidFill>
            <a:srgbClr val="C4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" name="TextBox 24"/>
          <p:cNvSpPr txBox="1"/>
          <p:nvPr/>
        </p:nvSpPr>
        <p:spPr>
          <a:xfrm>
            <a:off x="8869680" y="2029968"/>
            <a:ext cx="26517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200" b="1">
                <a:solidFill>
                  <a:srgbClr val="FFFFFF"/>
                </a:solidFill>
                <a:latin typeface="Calibri"/>
              </a:rPr>
              <a:t>Tài liệu khác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2359152"/>
            <a:ext cx="11521440" cy="292608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7" name="TextBox 26"/>
          <p:cNvSpPr txBox="1"/>
          <p:nvPr/>
        </p:nvSpPr>
        <p:spPr>
          <a:xfrm>
            <a:off x="411480" y="2395728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PHƯƠNG THỨC CUNG CẤP  |  Submission Methods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747772"/>
            <a:ext cx="5303520" cy="237744"/>
          </a:xfrm>
          <a:prstGeom prst="rect">
            <a:avLst/>
          </a:prstGeom>
          <a:solidFill>
            <a:srgbClr val="2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1" name="TextBox 30"/>
          <p:cNvSpPr txBox="1"/>
          <p:nvPr/>
        </p:nvSpPr>
        <p:spPr>
          <a:xfrm>
            <a:off x="320040" y="2747772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KH tự upload qua app (dropdown loại HĐ)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072384"/>
            <a:ext cx="11521440" cy="310896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3" name="TextBox 32"/>
          <p:cNvSpPr txBox="1"/>
          <p:nvPr/>
        </p:nvSpPr>
        <p:spPr>
          <a:xfrm>
            <a:off x="411480" y="3099816"/>
            <a:ext cx="1133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DECISION 1  |  Ai validate? – Who Validates the Documents?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456432"/>
            <a:ext cx="5669280" cy="1591056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5" name="Rectangle 34"/>
          <p:cNvSpPr/>
          <p:nvPr/>
        </p:nvSpPr>
        <p:spPr>
          <a:xfrm>
            <a:off x="320040" y="3456432"/>
            <a:ext cx="64008" cy="159105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6" name="Rectangle 35"/>
          <p:cNvSpPr/>
          <p:nvPr/>
        </p:nvSpPr>
        <p:spPr>
          <a:xfrm>
            <a:off x="429768" y="3529584"/>
            <a:ext cx="3108960" cy="23774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7" name="TextBox 36"/>
          <p:cNvSpPr txBox="1"/>
          <p:nvPr/>
        </p:nvSpPr>
        <p:spPr>
          <a:xfrm>
            <a:off x="429768" y="3529584"/>
            <a:ext cx="3108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 A  –  Risk Engine (Automated)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" y="3840480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AI / Risk Engine tự động xác thực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" y="4279392"/>
            <a:ext cx="4572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0" name="TextBox 39"/>
          <p:cNvSpPr txBox="1"/>
          <p:nvPr/>
        </p:nvSpPr>
        <p:spPr>
          <a:xfrm>
            <a:off x="539496" y="4206240"/>
            <a:ext cx="5376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A</a:t>
            </a:r>
            <a:r>
              <a:rPr lang="vi-VN" sz="1200" b="0" i="0">
                <a:solidFill>
                  <a:srgbClr val="1E2A35"/>
                </a:solidFill>
                <a:latin typeface="Calibri"/>
              </a:rPr>
              <a:t>I 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CAKE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xác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thực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hồ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sơ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tự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động</a:t>
            </a:r>
            <a:endParaRPr sz="1200" b="0" i="0">
              <a:solidFill>
                <a:srgbClr val="1E2A35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48056" y="4553712"/>
            <a:ext cx="4572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2" name="TextBox 41"/>
          <p:cNvSpPr txBox="1"/>
          <p:nvPr/>
        </p:nvSpPr>
        <p:spPr>
          <a:xfrm>
            <a:off x="539496" y="4480559"/>
            <a:ext cx="5376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Tốc độ cao, không cần nhân lực review; scale tốt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" y="4828031"/>
            <a:ext cx="45720" cy="4572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4" name="TextBox 43"/>
          <p:cNvSpPr txBox="1"/>
          <p:nvPr/>
        </p:nvSpPr>
        <p:spPr>
          <a:xfrm>
            <a:off x="539496" y="4754879"/>
            <a:ext cx="5376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err="1">
                <a:solidFill>
                  <a:srgbClr val="1E2A35"/>
                </a:solidFill>
                <a:latin typeface="Calibri"/>
              </a:rPr>
              <a:t>Cần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training model +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định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nghĩa</a:t>
            </a:r>
            <a:r>
              <a:rPr lang="vi-VN" sz="1200" b="0" i="0">
                <a:solidFill>
                  <a:srgbClr val="1E2A35"/>
                </a:solidFill>
                <a:latin typeface="Calibri"/>
              </a:rPr>
              <a:t> tiêu chí đánh giá +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threshold accept/reject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3456432"/>
            <a:ext cx="5669280" cy="1591056"/>
          </a:xfrm>
          <a:prstGeom prst="rect">
            <a:avLst/>
          </a:prstGeom>
          <a:solidFill>
            <a:srgbClr val="F2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6" name="Rectangle 45"/>
          <p:cNvSpPr/>
          <p:nvPr/>
        </p:nvSpPr>
        <p:spPr>
          <a:xfrm>
            <a:off x="6080760" y="3456432"/>
            <a:ext cx="64008" cy="1591056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7" name="Rectangle 46"/>
          <p:cNvSpPr/>
          <p:nvPr/>
        </p:nvSpPr>
        <p:spPr>
          <a:xfrm>
            <a:off x="6190488" y="3529584"/>
            <a:ext cx="3108960" cy="237744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8" name="TextBox 47"/>
          <p:cNvSpPr txBox="1"/>
          <p:nvPr/>
        </p:nvSpPr>
        <p:spPr>
          <a:xfrm>
            <a:off x="6190488" y="3529584"/>
            <a:ext cx="3108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 B  –  </a:t>
            </a:r>
            <a:r>
              <a:rPr lang="vi-VN" sz="1200" b="1" i="0">
                <a:solidFill>
                  <a:srgbClr val="FFFFFF"/>
                </a:solidFill>
                <a:latin typeface="Calibri"/>
              </a:rPr>
              <a:t>Hybrid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08776" y="3840480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200" b="1" i="0">
                <a:solidFill>
                  <a:srgbClr val="1E2A35"/>
                </a:solidFill>
                <a:latin typeface="Calibri"/>
              </a:rPr>
              <a:t>AI + Human</a:t>
            </a:r>
            <a:endParaRPr sz="1200" b="1" i="0">
              <a:solidFill>
                <a:srgbClr val="1E2A35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208776" y="4279392"/>
            <a:ext cx="45720" cy="45720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1" name="TextBox 50"/>
          <p:cNvSpPr txBox="1"/>
          <p:nvPr/>
        </p:nvSpPr>
        <p:spPr>
          <a:xfrm>
            <a:off x="6300216" y="4206240"/>
            <a:ext cx="5376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err="1">
                <a:solidFill>
                  <a:srgbClr val="1E2A35"/>
                </a:solidFill>
                <a:latin typeface="Calibri"/>
              </a:rPr>
              <a:t>Nhân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viên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Risk team review 100% spot check (&lt;10%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hồ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sơ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08776" y="4553712"/>
            <a:ext cx="45720" cy="45720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3" name="TextBox 52"/>
          <p:cNvSpPr txBox="1"/>
          <p:nvPr/>
        </p:nvSpPr>
        <p:spPr>
          <a:xfrm>
            <a:off x="6300216" y="4480559"/>
            <a:ext cx="5376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err="1">
                <a:solidFill>
                  <a:srgbClr val="1E2A35"/>
                </a:solidFill>
                <a:latin typeface="Calibri"/>
              </a:rPr>
              <a:t>Chính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xác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hơn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với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trường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hợp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bất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thường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, escalation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rõ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ràng</a:t>
            </a:r>
            <a:endParaRPr sz="1200" b="0" i="0">
              <a:solidFill>
                <a:srgbClr val="1E2A35"/>
              </a:solidFill>
              <a:latin typeface="Calibr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208776" y="4828031"/>
            <a:ext cx="45720" cy="45720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5" name="TextBox 54"/>
          <p:cNvSpPr txBox="1"/>
          <p:nvPr/>
        </p:nvSpPr>
        <p:spPr>
          <a:xfrm>
            <a:off x="6300216" y="4754879"/>
            <a:ext cx="5376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Chi phí nhân lực cao; khó scale khi volume tăng nhanh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138928"/>
            <a:ext cx="11521440" cy="310896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7" name="TextBox 56"/>
          <p:cNvSpPr txBox="1"/>
          <p:nvPr/>
        </p:nvSpPr>
        <p:spPr>
          <a:xfrm>
            <a:off x="411480" y="5166360"/>
            <a:ext cx="1133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DECISION 2  |  Timing: Validate ngay hay Phase 1 không validate (chờ TT 400M)?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5522976"/>
            <a:ext cx="5303520" cy="987552"/>
          </a:xfrm>
          <a:prstGeom prst="rect">
            <a:avLst/>
          </a:prstGeom>
          <a:solidFill>
            <a:srgbClr val="E8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9" name="Rectangle 58"/>
          <p:cNvSpPr/>
          <p:nvPr/>
        </p:nvSpPr>
        <p:spPr>
          <a:xfrm>
            <a:off x="320040" y="5522976"/>
            <a:ext cx="64008" cy="987552"/>
          </a:xfrm>
          <a:prstGeom prst="rect">
            <a:avLst/>
          </a:prstGeom>
          <a:solidFill>
            <a:srgbClr val="4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0" name="Rectangle 59"/>
          <p:cNvSpPr/>
          <p:nvPr/>
        </p:nvSpPr>
        <p:spPr>
          <a:xfrm>
            <a:off x="429768" y="5596128"/>
            <a:ext cx="2560320" cy="237744"/>
          </a:xfrm>
          <a:prstGeom prst="rect">
            <a:avLst/>
          </a:prstGeom>
          <a:solidFill>
            <a:srgbClr val="4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1" name="TextBox 60"/>
          <p:cNvSpPr txBox="1"/>
          <p:nvPr/>
        </p:nvSpPr>
        <p:spPr>
          <a:xfrm>
            <a:off x="429768" y="5596128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1  –  NGAY (Q2/2026)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" y="5888736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Upload </a:t>
            </a:r>
            <a:r>
              <a:rPr sz="1200" b="1" i="0" err="1">
                <a:solidFill>
                  <a:srgbClr val="1E2A35"/>
                </a:solidFill>
                <a:latin typeface="Calibri"/>
              </a:rPr>
              <a:t>nhưng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 </a:t>
            </a:r>
            <a:r>
              <a:rPr lang="vi-VN" sz="1200" b="1">
                <a:solidFill>
                  <a:srgbClr val="1E2A35"/>
                </a:solidFill>
                <a:latin typeface="Calibri"/>
              </a:rPr>
              <a:t>CHƯA cần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 validate</a:t>
            </a:r>
            <a:r>
              <a:rPr lang="vi-VN" sz="1200" b="1" i="0">
                <a:solidFill>
                  <a:srgbClr val="1E2A35"/>
                </a:solidFill>
                <a:latin typeface="Calibri"/>
              </a:rPr>
              <a:t>/random checks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 – </a:t>
            </a:r>
            <a:r>
              <a:rPr sz="1200" b="1" i="0" err="1">
                <a:solidFill>
                  <a:srgbClr val="1E2A35"/>
                </a:solidFill>
                <a:latin typeface="Calibri"/>
              </a:rPr>
              <a:t>chờ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 TT </a:t>
            </a:r>
            <a:r>
              <a:rPr sz="1200" b="1" i="0" err="1">
                <a:solidFill>
                  <a:srgbClr val="1E2A35"/>
                </a:solidFill>
                <a:latin typeface="Calibri"/>
              </a:rPr>
              <a:t>sửa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1" i="0" err="1">
                <a:solidFill>
                  <a:srgbClr val="1E2A35"/>
                </a:solidFill>
                <a:latin typeface="Calibri"/>
              </a:rPr>
              <a:t>đổi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 400M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9768" y="6163056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Thu data thực tế; aligned với xu hướng pháp lý; launch nhanh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52160" y="5522976"/>
            <a:ext cx="5303520" cy="987552"/>
          </a:xfrm>
          <a:prstGeom prst="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5" name="Rectangle 64"/>
          <p:cNvSpPr/>
          <p:nvPr/>
        </p:nvSpPr>
        <p:spPr>
          <a:xfrm>
            <a:off x="5852160" y="5522976"/>
            <a:ext cx="64008" cy="9875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6" name="Rectangle 65"/>
          <p:cNvSpPr/>
          <p:nvPr/>
        </p:nvSpPr>
        <p:spPr>
          <a:xfrm>
            <a:off x="5961888" y="5596128"/>
            <a:ext cx="5074920" cy="23774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7" name="TextBox 66"/>
          <p:cNvSpPr txBox="1"/>
          <p:nvPr/>
        </p:nvSpPr>
        <p:spPr>
          <a:xfrm>
            <a:off x="5961888" y="5596128"/>
            <a:ext cx="5074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A35"/>
                </a:solidFill>
                <a:latin typeface="Calibri"/>
              </a:rPr>
              <a:t>PHASE 2  –  NẾU TT 400M CHƯA BAN HÀNH (Q3/2026)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61888" y="5888736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err="1">
                <a:solidFill>
                  <a:srgbClr val="1E2A35"/>
                </a:solidFill>
                <a:latin typeface="Calibri"/>
              </a:rPr>
              <a:t>Kích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1" i="0" err="1">
                <a:solidFill>
                  <a:srgbClr val="1E2A35"/>
                </a:solidFill>
                <a:latin typeface="Calibri"/>
              </a:rPr>
              <a:t>hoạt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 Risk Engine (A</a:t>
            </a:r>
            <a:r>
              <a:rPr lang="vi-VN" sz="1200" b="1" i="0">
                <a:solidFill>
                  <a:srgbClr val="1E2A35"/>
                </a:solidFill>
                <a:latin typeface="Calibri"/>
              </a:rPr>
              <a:t>I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 CAKE) + Random spot check &lt;10%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61888" y="6163056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err="1">
                <a:solidFill>
                  <a:srgbClr val="1E2A35"/>
                </a:solidFill>
                <a:latin typeface="Calibri"/>
              </a:rPr>
              <a:t>Chỉ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áp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dụng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nếu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TT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sửa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đổi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400M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chưa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được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ban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hành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</a:t>
            </a:r>
            <a:r>
              <a:rPr sz="1200" b="0" i="0" err="1">
                <a:solidFill>
                  <a:srgbClr val="1E2A35"/>
                </a:solidFill>
                <a:latin typeface="Calibri"/>
              </a:rPr>
              <a:t>vào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 Q</a:t>
            </a:r>
            <a:r>
              <a:rPr lang="vi-VN" sz="1200" b="0" i="0">
                <a:solidFill>
                  <a:srgbClr val="1E2A35"/>
                </a:solidFill>
                <a:latin typeface="Calibri"/>
              </a:rPr>
              <a:t>4</a:t>
            </a:r>
            <a:r>
              <a:rPr sz="1200" b="0" i="0">
                <a:solidFill>
                  <a:srgbClr val="1E2A35"/>
                </a:solidFill>
                <a:latin typeface="Calibri"/>
              </a:rPr>
              <a:t>/2026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0" y="58521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843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987552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6152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03  CM TÀI CHÍNH – 1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14300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err="1">
                <a:solidFill>
                  <a:srgbClr val="D4A843"/>
                </a:solidFill>
                <a:latin typeface="Calibri"/>
              </a:rPr>
              <a:t>Chứng</a:t>
            </a:r>
            <a:r>
              <a:rPr sz="1150" b="0" i="0">
                <a:solidFill>
                  <a:srgbClr val="D4A843"/>
                </a:solidFill>
                <a:latin typeface="Calibri"/>
              </a:rPr>
              <a:t> </a:t>
            </a:r>
            <a:r>
              <a:rPr sz="1150" b="0" i="0" err="1">
                <a:solidFill>
                  <a:srgbClr val="D4A843"/>
                </a:solidFill>
                <a:latin typeface="Calibri"/>
              </a:rPr>
              <a:t>minh</a:t>
            </a:r>
            <a:r>
              <a:rPr sz="1150" b="0" i="0">
                <a:solidFill>
                  <a:srgbClr val="D4A843"/>
                </a:solidFill>
                <a:latin typeface="Calibri"/>
              </a:rPr>
              <a:t> </a:t>
            </a:r>
            <a:r>
              <a:rPr sz="1150" b="0" i="0" err="1">
                <a:solidFill>
                  <a:srgbClr val="D4A843"/>
                </a:solidFill>
                <a:latin typeface="Calibri"/>
              </a:rPr>
              <a:t>năng</a:t>
            </a:r>
            <a:r>
              <a:rPr sz="1150" b="0" i="0">
                <a:solidFill>
                  <a:srgbClr val="D4A843"/>
                </a:solidFill>
                <a:latin typeface="Calibri"/>
              </a:rPr>
              <a:t> </a:t>
            </a:r>
            <a:r>
              <a:rPr sz="1150" b="0" i="0" err="1">
                <a:solidFill>
                  <a:srgbClr val="D4A843"/>
                </a:solidFill>
                <a:latin typeface="Calibri"/>
              </a:rPr>
              <a:t>lực</a:t>
            </a:r>
            <a:r>
              <a:rPr sz="1150" b="0" i="0">
                <a:solidFill>
                  <a:srgbClr val="D4A843"/>
                </a:solidFill>
                <a:latin typeface="Calibri"/>
              </a:rPr>
              <a:t> </a:t>
            </a:r>
            <a:r>
              <a:rPr sz="1150" b="0" i="0" err="1">
                <a:solidFill>
                  <a:srgbClr val="D4A843"/>
                </a:solidFill>
                <a:latin typeface="Calibri"/>
              </a:rPr>
              <a:t>tài</a:t>
            </a:r>
            <a:r>
              <a:rPr sz="1150" b="0" i="0">
                <a:solidFill>
                  <a:srgbClr val="D4A843"/>
                </a:solidFill>
                <a:latin typeface="Calibri"/>
              </a:rPr>
              <a:t> </a:t>
            </a:r>
            <a:r>
              <a:rPr sz="1150" b="0" i="0" err="1">
                <a:solidFill>
                  <a:srgbClr val="D4A843"/>
                </a:solidFill>
                <a:latin typeface="Calibri"/>
              </a:rPr>
              <a:t>chính</a:t>
            </a:r>
            <a:r>
              <a:rPr sz="1150" b="0" i="0">
                <a:solidFill>
                  <a:srgbClr val="D4A843"/>
                </a:solidFill>
                <a:latin typeface="Calibri"/>
              </a:rPr>
              <a:t> | </a:t>
            </a:r>
            <a:r>
              <a:rPr lang="vi-VN" sz="1150" b="0" i="0">
                <a:solidFill>
                  <a:srgbClr val="D4A843"/>
                </a:solidFill>
                <a:latin typeface="Calibri"/>
              </a:rPr>
              <a:t>TT12/2024; </a:t>
            </a:r>
            <a:r>
              <a:rPr sz="1150" b="0" i="0">
                <a:solidFill>
                  <a:srgbClr val="D4A843"/>
                </a:solidFill>
                <a:latin typeface="Calibri"/>
              </a:rPr>
              <a:t>TT 39/2016 + </a:t>
            </a:r>
            <a:r>
              <a:rPr sz="1150" b="0" i="0" err="1">
                <a:solidFill>
                  <a:srgbClr val="D4A843"/>
                </a:solidFill>
                <a:latin typeface="Calibri"/>
              </a:rPr>
              <a:t>Nội</a:t>
            </a:r>
            <a:r>
              <a:rPr sz="1150" b="0" i="0">
                <a:solidFill>
                  <a:srgbClr val="D4A843"/>
                </a:solidFill>
                <a:latin typeface="Calibri"/>
              </a:rPr>
              <a:t> </a:t>
            </a:r>
            <a:r>
              <a:rPr sz="1150" b="0" i="0" err="1">
                <a:solidFill>
                  <a:srgbClr val="D4A843"/>
                </a:solidFill>
                <a:latin typeface="Calibri"/>
              </a:rPr>
              <a:t>bộ</a:t>
            </a:r>
            <a:r>
              <a:rPr sz="1150" b="0" i="0">
                <a:solidFill>
                  <a:srgbClr val="D4A843"/>
                </a:solidFill>
                <a:latin typeface="Calibri"/>
              </a:rPr>
              <a:t> </a:t>
            </a:r>
            <a:r>
              <a:rPr lang="vi-VN" sz="1150" b="0" i="0">
                <a:solidFill>
                  <a:srgbClr val="D4A843"/>
                </a:solidFill>
                <a:latin typeface="Calibri"/>
              </a:rPr>
              <a:t>CAKE</a:t>
            </a:r>
            <a:endParaRPr sz="1150" b="0" i="0">
              <a:solidFill>
                <a:srgbClr val="D4A843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B8D"/>
                </a:solidFill>
                <a:latin typeface="Calibri"/>
              </a:rPr>
              <a:t>Decision 03 – CM Tài chính  |  Lending Product Team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11521440" cy="457200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2423160" cy="256032"/>
          </a:xfrm>
          <a:prstGeom prst="rect">
            <a:avLst/>
          </a:prstGeom>
          <a:solidFill>
            <a:srgbClr val="2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170432"/>
            <a:ext cx="24231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800" b="1" i="0">
                <a:solidFill>
                  <a:srgbClr val="FFFFFF"/>
                </a:solidFill>
                <a:latin typeface="Calibri"/>
              </a:rPr>
              <a:t>TT12/2024; 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TT 39/2016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170432"/>
            <a:ext cx="2423160" cy="25603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1170432"/>
            <a:ext cx="24231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 err="1">
                <a:solidFill>
                  <a:srgbClr val="FFFFFF"/>
                </a:solidFill>
                <a:latin typeface="Calibri"/>
              </a:rPr>
              <a:t>Nội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 </a:t>
            </a:r>
            <a:r>
              <a:rPr sz="800" b="1" i="0" err="1">
                <a:solidFill>
                  <a:srgbClr val="FFFFFF"/>
                </a:solidFill>
                <a:latin typeface="Calibri"/>
              </a:rPr>
              <a:t>bộ</a:t>
            </a:r>
            <a:r>
              <a:rPr sz="800" b="1" i="0">
                <a:solidFill>
                  <a:srgbClr val="FFFFFF"/>
                </a:solidFill>
                <a:latin typeface="Calibri"/>
              </a:rPr>
              <a:t> </a:t>
            </a:r>
            <a:r>
              <a:rPr lang="vi-VN" sz="800" b="1">
                <a:solidFill>
                  <a:srgbClr val="FFFFFF"/>
                </a:solidFill>
                <a:latin typeface="Calibri"/>
              </a:rPr>
              <a:t>CAKE</a:t>
            </a:r>
            <a:endParaRPr sz="8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23560" y="1170432"/>
            <a:ext cx="2423160" cy="256032"/>
          </a:xfrm>
          <a:prstGeom prst="rect">
            <a:avLst/>
          </a:prstGeom>
          <a:solidFill>
            <a:srgbClr val="2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23560" y="117043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Luật TCTD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17043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D4A843"/>
                </a:solidFill>
                <a:latin typeface="Calibri"/>
              </a:rPr>
              <a:t>→  TCTD có nghĩa vụ thẩm định năng lực tài chính KH trước khi giải ngân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64208"/>
            <a:ext cx="11521440" cy="292608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7" name="TextBox 16"/>
          <p:cNvSpPr txBox="1"/>
          <p:nvPr/>
        </p:nvSpPr>
        <p:spPr>
          <a:xfrm>
            <a:off x="411480" y="1700784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LOẠI GIẤY TỜ  |  Accepted Financial Documents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2029968"/>
            <a:ext cx="1645920" cy="9144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Rectangle 20"/>
          <p:cNvSpPr/>
          <p:nvPr/>
        </p:nvSpPr>
        <p:spPr>
          <a:xfrm>
            <a:off x="2057400" y="2029968"/>
            <a:ext cx="1645920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" name="TextBox 21"/>
          <p:cNvSpPr txBox="1"/>
          <p:nvPr/>
        </p:nvSpPr>
        <p:spPr>
          <a:xfrm>
            <a:off x="2130552" y="2139696"/>
            <a:ext cx="14996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Payslip /
Phiếu lương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30552" y="2651760"/>
            <a:ext cx="1499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Tháng gần nhất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2029968"/>
            <a:ext cx="1645920" cy="9144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" name="Rectangle 24"/>
          <p:cNvSpPr/>
          <p:nvPr/>
        </p:nvSpPr>
        <p:spPr>
          <a:xfrm>
            <a:off x="3840480" y="2029968"/>
            <a:ext cx="1645920" cy="54864"/>
          </a:xfrm>
          <a:prstGeom prst="rect">
            <a:avLst/>
          </a:prstGeom>
          <a:solidFill>
            <a:srgbClr val="149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3913632" y="2139696"/>
            <a:ext cx="14996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Hợp đồng lao
động (HĐLĐ)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3632" y="2651760"/>
            <a:ext cx="1499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Còn hiệu lực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23560" y="2029968"/>
            <a:ext cx="1645920" cy="9144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9" name="Rectangle 28"/>
          <p:cNvSpPr/>
          <p:nvPr/>
        </p:nvSpPr>
        <p:spPr>
          <a:xfrm>
            <a:off x="5623560" y="2029968"/>
            <a:ext cx="1645920" cy="54864"/>
          </a:xfrm>
          <a:prstGeom prst="rect">
            <a:avLst/>
          </a:prstGeom>
          <a:solidFill>
            <a:srgbClr val="2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0" name="TextBox 29"/>
          <p:cNvSpPr txBox="1"/>
          <p:nvPr/>
        </p:nvSpPr>
        <p:spPr>
          <a:xfrm>
            <a:off x="5696712" y="2139696"/>
            <a:ext cx="14996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Sao kê NH
3 tháng gần nhất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96712" y="2651760"/>
            <a:ext cx="1499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Bank statement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2029968"/>
            <a:ext cx="1645920" cy="9144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3" name="Rectangle 32"/>
          <p:cNvSpPr/>
          <p:nvPr/>
        </p:nvSpPr>
        <p:spPr>
          <a:xfrm>
            <a:off x="7406640" y="2029968"/>
            <a:ext cx="1645920" cy="54864"/>
          </a:xfrm>
          <a:prstGeom prst="rect">
            <a:avLst/>
          </a:prstGeom>
          <a:solidFill>
            <a:srgbClr val="C4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7479792" y="2139696"/>
            <a:ext cx="14996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Tờ khai thuế /
QTT TNCN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2651760"/>
            <a:ext cx="1499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Năm gần nhất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9720" y="2029968"/>
            <a:ext cx="1645920" cy="9144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7" name="Rectangle 36"/>
          <p:cNvSpPr/>
          <p:nvPr/>
        </p:nvSpPr>
        <p:spPr>
          <a:xfrm>
            <a:off x="9189720" y="2029968"/>
            <a:ext cx="1645920" cy="54864"/>
          </a:xfrm>
          <a:prstGeom prst="rect">
            <a:avLst/>
          </a:prstGeom>
          <a:solidFill>
            <a:srgbClr val="6B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8" name="TextBox 37"/>
          <p:cNvSpPr txBox="1"/>
          <p:nvPr/>
        </p:nvSpPr>
        <p:spPr>
          <a:xfrm>
            <a:off x="9262872" y="2139696"/>
            <a:ext cx="14996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Giấy phép
Kinh doanh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2872" y="2651760"/>
            <a:ext cx="1499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B8D"/>
                </a:solidFill>
                <a:latin typeface="Calibri"/>
              </a:rPr>
              <a:t>GPKD + BC KQKD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255264"/>
            <a:ext cx="11521440" cy="292608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3" name="TextBox 42"/>
          <p:cNvSpPr txBox="1"/>
          <p:nvPr/>
        </p:nvSpPr>
        <p:spPr>
          <a:xfrm>
            <a:off x="411480" y="329184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PHƯƠNG THỨC CUNG CẤP  |  Submission Methods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0520" y="3621024"/>
            <a:ext cx="3611880" cy="237744"/>
          </a:xfrm>
          <a:prstGeom prst="rect">
            <a:avLst/>
          </a:prstGeom>
          <a:solidFill>
            <a:srgbClr val="2C3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7" name="TextBox 46"/>
          <p:cNvSpPr txBox="1"/>
          <p:nvPr/>
        </p:nvSpPr>
        <p:spPr>
          <a:xfrm>
            <a:off x="4160520" y="3621024"/>
            <a:ext cx="3611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KH tự upload qua app Cake (scan / chụp ảnh)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3968496"/>
            <a:ext cx="11521440" cy="310896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1" name="TextBox 50"/>
          <p:cNvSpPr txBox="1"/>
          <p:nvPr/>
        </p:nvSpPr>
        <p:spPr>
          <a:xfrm>
            <a:off x="411480" y="3995928"/>
            <a:ext cx="1133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DECISION  |  Ai validate CM Tài </a:t>
            </a:r>
            <a:r>
              <a:rPr sz="1200" b="1" i="0" err="1">
                <a:solidFill>
                  <a:srgbClr val="1E2A35"/>
                </a:solidFill>
                <a:latin typeface="Calibri"/>
              </a:rPr>
              <a:t>chính</a:t>
            </a:r>
            <a:r>
              <a:rPr sz="1200" b="1" i="0">
                <a:solidFill>
                  <a:srgbClr val="1E2A35"/>
                </a:solidFill>
                <a:latin typeface="Calibri"/>
              </a:rPr>
              <a:t>? – Who Validates Financial Documents?</a:t>
            </a:r>
            <a:r>
              <a:rPr lang="vi-VN" sz="1200" b="1" i="0">
                <a:solidFill>
                  <a:srgbClr val="1E2A35"/>
                </a:solidFill>
                <a:latin typeface="Calibri"/>
              </a:rPr>
              <a:t> – </a:t>
            </a:r>
            <a:r>
              <a:rPr lang="vi-VN" sz="1200" b="1" i="0">
                <a:solidFill>
                  <a:srgbClr val="1E2A35"/>
                </a:solidFill>
                <a:highlight>
                  <a:srgbClr val="FFFF00"/>
                </a:highlight>
                <a:latin typeface="Calibri"/>
              </a:rPr>
              <a:t>Open Question: Cake sẽ có cơ chế kiểm tra bằng hệ thống/data thay vì cần KH cung cấp?</a:t>
            </a:r>
            <a:endParaRPr sz="1200" b="1" i="0">
              <a:solidFill>
                <a:srgbClr val="1E2A35"/>
              </a:solidFill>
              <a:highlight>
                <a:srgbClr val="FFFF00"/>
              </a:highlight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20040" y="4370832"/>
            <a:ext cx="5669280" cy="2084831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3" name="Rectangle 52"/>
          <p:cNvSpPr/>
          <p:nvPr/>
        </p:nvSpPr>
        <p:spPr>
          <a:xfrm>
            <a:off x="320040" y="4370832"/>
            <a:ext cx="64008" cy="2084831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4" name="Rectangle 53"/>
          <p:cNvSpPr/>
          <p:nvPr/>
        </p:nvSpPr>
        <p:spPr>
          <a:xfrm>
            <a:off x="429768" y="4443984"/>
            <a:ext cx="3108960" cy="23774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5" name="TextBox 54"/>
          <p:cNvSpPr txBox="1"/>
          <p:nvPr/>
        </p:nvSpPr>
        <p:spPr>
          <a:xfrm>
            <a:off x="429768" y="4443984"/>
            <a:ext cx="3108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 A  –  Risk Engine (Automated)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" y="4773168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AI / Risk Engine tự động xác thực tài liệu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8056" y="5120640"/>
            <a:ext cx="5413248" cy="18288"/>
          </a:xfrm>
          <a:prstGeom prst="rect">
            <a:avLst/>
          </a:prstGeom>
          <a:solidFill>
            <a:srgbClr val="DD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8" name="Rectangle 57"/>
          <p:cNvSpPr/>
          <p:nvPr/>
        </p:nvSpPr>
        <p:spPr>
          <a:xfrm>
            <a:off x="448056" y="5285231"/>
            <a:ext cx="45720" cy="45720"/>
          </a:xfrm>
          <a:prstGeom prst="rect">
            <a:avLst/>
          </a:prstGeom>
          <a:solidFill>
            <a:srgbClr val="4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9" name="TextBox 58"/>
          <p:cNvSpPr txBox="1"/>
          <p:nvPr/>
        </p:nvSpPr>
        <p:spPr>
          <a:xfrm>
            <a:off x="539496" y="5193792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✓  Tốc độ cao: kết quả trong vài giây, không cần chờ reviewer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8056" y="5577840"/>
            <a:ext cx="45720" cy="45720"/>
          </a:xfrm>
          <a:prstGeom prst="rect">
            <a:avLst/>
          </a:prstGeom>
          <a:solidFill>
            <a:srgbClr val="4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1" name="TextBox 60"/>
          <p:cNvSpPr txBox="1"/>
          <p:nvPr/>
        </p:nvSpPr>
        <p:spPr>
          <a:xfrm>
            <a:off x="539496" y="548640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✓  Scale tốt: xử lý hàng trăm hồ sơ song song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8056" y="5870447"/>
            <a:ext cx="45720" cy="45720"/>
          </a:xfrm>
          <a:prstGeom prst="rect">
            <a:avLst/>
          </a:prstGeom>
          <a:solidFill>
            <a:srgbClr val="4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3" name="TextBox 62"/>
          <p:cNvSpPr txBox="1"/>
          <p:nvPr/>
        </p:nvSpPr>
        <p:spPr>
          <a:xfrm>
            <a:off x="539496" y="5779007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✓  Nhất quán: cùng tiêu chí đánh giá, không bias cá nhân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8056" y="6163055"/>
            <a:ext cx="45720" cy="45720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5" name="TextBox 64"/>
          <p:cNvSpPr txBox="1"/>
          <p:nvPr/>
        </p:nvSpPr>
        <p:spPr>
          <a:xfrm>
            <a:off x="539496" y="6071616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✗  Cần model training tốt; khó với giấy tờ bất thường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80760" y="4370832"/>
            <a:ext cx="5669280" cy="2084831"/>
          </a:xfrm>
          <a:prstGeom prst="rect">
            <a:avLst/>
          </a:prstGeom>
          <a:solidFill>
            <a:srgbClr val="F2E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7" name="Rectangle 66"/>
          <p:cNvSpPr/>
          <p:nvPr/>
        </p:nvSpPr>
        <p:spPr>
          <a:xfrm>
            <a:off x="6080760" y="4370832"/>
            <a:ext cx="64008" cy="2084831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8" name="Rectangle 67"/>
          <p:cNvSpPr/>
          <p:nvPr/>
        </p:nvSpPr>
        <p:spPr>
          <a:xfrm>
            <a:off x="6190488" y="4443984"/>
            <a:ext cx="3108960" cy="237744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9" name="TextBox 68"/>
          <p:cNvSpPr txBox="1"/>
          <p:nvPr/>
        </p:nvSpPr>
        <p:spPr>
          <a:xfrm>
            <a:off x="6190488" y="4443984"/>
            <a:ext cx="3108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 B  –  Human Review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08776" y="4773168"/>
            <a:ext cx="5486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Credit Officer / Risk team review thủ công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08776" y="5120640"/>
            <a:ext cx="5413248" cy="18288"/>
          </a:xfrm>
          <a:prstGeom prst="rect">
            <a:avLst/>
          </a:prstGeom>
          <a:solidFill>
            <a:srgbClr val="DDD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2" name="Rectangle 71"/>
          <p:cNvSpPr/>
          <p:nvPr/>
        </p:nvSpPr>
        <p:spPr>
          <a:xfrm>
            <a:off x="6208776" y="5285231"/>
            <a:ext cx="45720" cy="45720"/>
          </a:xfrm>
          <a:prstGeom prst="rect">
            <a:avLst/>
          </a:prstGeom>
          <a:solidFill>
            <a:srgbClr val="4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3" name="TextBox 72"/>
          <p:cNvSpPr txBox="1"/>
          <p:nvPr/>
        </p:nvSpPr>
        <p:spPr>
          <a:xfrm>
            <a:off x="6300216" y="5193792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✓  Chính xác hơn với giấy tờ phức tạp / bất thường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08776" y="5577840"/>
            <a:ext cx="45720" cy="45720"/>
          </a:xfrm>
          <a:prstGeom prst="rect">
            <a:avLst/>
          </a:prstGeom>
          <a:solidFill>
            <a:srgbClr val="4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5" name="TextBox 74"/>
          <p:cNvSpPr txBox="1"/>
          <p:nvPr/>
        </p:nvSpPr>
        <p:spPr>
          <a:xfrm>
            <a:off x="6300216" y="5486400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✓  Escalation rõ ràng; kinh nghiệm nghiệp vụ cao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08776" y="5870447"/>
            <a:ext cx="45720" cy="45720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7" name="TextBox 76"/>
          <p:cNvSpPr txBox="1"/>
          <p:nvPr/>
        </p:nvSpPr>
        <p:spPr>
          <a:xfrm>
            <a:off x="6300216" y="5779007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✗  Thời gian xử lý dài (1–2 ngày); không scale tốt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08776" y="6163055"/>
            <a:ext cx="45720" cy="45720"/>
          </a:xfrm>
          <a:prstGeom prst="rect">
            <a:avLst/>
          </a:prstGeom>
          <a:solidFill>
            <a:srgbClr val="8B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9" name="TextBox 78"/>
          <p:cNvSpPr txBox="1"/>
          <p:nvPr/>
        </p:nvSpPr>
        <p:spPr>
          <a:xfrm>
            <a:off x="6300216" y="6071616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5"/>
                </a:solidFill>
                <a:latin typeface="Calibri"/>
              </a:rPr>
              <a:t>✗  Chi phí nhân lực cao khi volume tăng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6492240"/>
            <a:ext cx="11521440" cy="384048"/>
          </a:xfrm>
          <a:prstGeom prst="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20040" y="6492240"/>
            <a:ext cx="54864" cy="38404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38912" y="6528816"/>
            <a:ext cx="11064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35"/>
                </a:solidFill>
                <a:latin typeface="Calibri"/>
              </a:rPr>
              <a:t>★  Đề xuất: Option A (Risk Engine) + Hybrid spot-check 5–10% bởi Credit Officer | Kết hợp tốc độ của AI với chất lượng kiểm soát của Human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6615091-DAF8-A318-F0D4-68B33EA2C6F4}"/>
              </a:ext>
            </a:extLst>
          </p:cNvPr>
          <p:cNvSpPr/>
          <p:nvPr/>
        </p:nvSpPr>
        <p:spPr>
          <a:xfrm>
            <a:off x="274543" y="2014359"/>
            <a:ext cx="1645920" cy="9144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9CE199-9F91-9416-36F6-73F037B6DC1D}"/>
              </a:ext>
            </a:extLst>
          </p:cNvPr>
          <p:cNvSpPr/>
          <p:nvPr/>
        </p:nvSpPr>
        <p:spPr>
          <a:xfrm>
            <a:off x="274543" y="2014359"/>
            <a:ext cx="1645920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B0329E-AD4A-43F0-08BA-406E9CB59FF1}"/>
              </a:ext>
            </a:extLst>
          </p:cNvPr>
          <p:cNvSpPr txBox="1"/>
          <p:nvPr/>
        </p:nvSpPr>
        <p:spPr>
          <a:xfrm>
            <a:off x="347695" y="2124087"/>
            <a:ext cx="1499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200" b="1" i="0">
                <a:solidFill>
                  <a:srgbClr val="1E2A35"/>
                </a:solidFill>
                <a:latin typeface="Calibri"/>
              </a:rPr>
              <a:t>TD/CASA BALANCE</a:t>
            </a:r>
            <a:endParaRPr sz="1200" b="1" i="0">
              <a:solidFill>
                <a:srgbClr val="1E2A35"/>
              </a:solidFill>
              <a:latin typeface="Calibri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08C599E-AA74-A172-7466-3A2198A0CB0E}"/>
              </a:ext>
            </a:extLst>
          </p:cNvPr>
          <p:cNvSpPr txBox="1"/>
          <p:nvPr/>
        </p:nvSpPr>
        <p:spPr>
          <a:xfrm>
            <a:off x="347695" y="2636151"/>
            <a:ext cx="1499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err="1">
                <a:solidFill>
                  <a:srgbClr val="6B7B8D"/>
                </a:solidFill>
                <a:latin typeface="Calibri"/>
              </a:rPr>
              <a:t>Tháng</a:t>
            </a:r>
            <a:r>
              <a:rPr sz="1200" b="0" i="1">
                <a:solidFill>
                  <a:srgbClr val="6B7B8D"/>
                </a:solidFill>
                <a:latin typeface="Calibri"/>
              </a:rPr>
              <a:t> </a:t>
            </a:r>
            <a:r>
              <a:rPr sz="1200" b="0" i="1" err="1">
                <a:solidFill>
                  <a:srgbClr val="6B7B8D"/>
                </a:solidFill>
                <a:latin typeface="Calibri"/>
              </a:rPr>
              <a:t>gần</a:t>
            </a:r>
            <a:r>
              <a:rPr sz="1200" b="0" i="1">
                <a:solidFill>
                  <a:srgbClr val="6B7B8D"/>
                </a:solidFill>
                <a:latin typeface="Calibri"/>
              </a:rPr>
              <a:t> </a:t>
            </a:r>
            <a:r>
              <a:rPr sz="1200" b="0" i="1" err="1">
                <a:solidFill>
                  <a:srgbClr val="6B7B8D"/>
                </a:solidFill>
                <a:latin typeface="Calibri"/>
              </a:rPr>
              <a:t>nhất</a:t>
            </a:r>
            <a:endParaRPr sz="1200" b="0" i="1">
              <a:solidFill>
                <a:srgbClr val="6B7B8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987552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6152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ACTION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ED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B8D"/>
                </a:solidFill>
                <a:latin typeface="Calibri"/>
              </a:rPr>
              <a:t>Action Plan  |  Lending Product Team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11521440" cy="329184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59" y="1188720"/>
            <a:ext cx="3840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88720"/>
            <a:ext cx="34015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ACTION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958" y="1188720"/>
            <a:ext cx="184676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PIC /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188720"/>
            <a:ext cx="19385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1188720"/>
            <a:ext cx="13898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764792"/>
            <a:ext cx="11521440" cy="438912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Rectangle 17"/>
          <p:cNvSpPr/>
          <p:nvPr/>
        </p:nvSpPr>
        <p:spPr>
          <a:xfrm>
            <a:off x="320040" y="1764792"/>
            <a:ext cx="45720" cy="43891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365759" y="1837943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5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1803930"/>
            <a:ext cx="3881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200" b="0" i="0">
                <a:solidFill>
                  <a:srgbClr val="6B7B8D"/>
                </a:solidFill>
                <a:latin typeface="Calibri"/>
              </a:rPr>
              <a:t>Xây dựng quy trình KYC Offline và hệ thống kiểm tra kết quả KYC của CTV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0" y="1826011"/>
            <a:ext cx="2670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200">
                <a:solidFill>
                  <a:srgbClr val="6B7B8D"/>
                </a:solidFill>
                <a:latin typeface="Calibri"/>
              </a:rPr>
              <a:t>Ops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40880" y="1837943"/>
            <a:ext cx="1938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200" b="0" i="0">
                <a:solidFill>
                  <a:srgbClr val="6B7B8D"/>
                </a:solidFill>
                <a:latin typeface="Calibri"/>
              </a:rPr>
              <a:t>Q2/26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634472" y="1856231"/>
            <a:ext cx="1316736" cy="237744"/>
          </a:xfrm>
          <a:prstGeom prst="rect">
            <a:avLst/>
          </a:prstGeom>
          <a:solidFill>
            <a:srgbClr val="DDD9D2"/>
          </a:solidFill>
          <a:ln w="635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10634472" y="1856231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200">
                <a:solidFill>
                  <a:srgbClr val="6B7B8D"/>
                </a:solidFill>
                <a:latin typeface="Calibri"/>
              </a:rPr>
              <a:t>In-progress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0040" y="2203704"/>
            <a:ext cx="11521440" cy="438912"/>
          </a:xfrm>
          <a:prstGeom prst="rect">
            <a:avLst/>
          </a:prstGeom>
          <a:solidFill>
            <a:srgbClr val="EE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Rectangle 27"/>
          <p:cNvSpPr/>
          <p:nvPr/>
        </p:nvSpPr>
        <p:spPr>
          <a:xfrm>
            <a:off x="320040" y="2203704"/>
            <a:ext cx="45720" cy="43891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9" name="TextBox 28"/>
          <p:cNvSpPr txBox="1"/>
          <p:nvPr/>
        </p:nvSpPr>
        <p:spPr>
          <a:xfrm>
            <a:off x="365759" y="2276856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5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2233476"/>
            <a:ext cx="3401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200">
                <a:solidFill>
                  <a:srgbClr val="6B7B8D"/>
                </a:solidFill>
                <a:latin typeface="Calibri"/>
              </a:rPr>
              <a:t>Headcount, ký kết hợp tác với VNPOST/MWG/Tuyển dụng CTV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9200" y="2264924"/>
            <a:ext cx="2670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200">
                <a:solidFill>
                  <a:srgbClr val="6B7B8D"/>
                </a:solidFill>
                <a:latin typeface="Calibri"/>
              </a:rPr>
              <a:t>Ops/HR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40880" y="2276856"/>
            <a:ext cx="1938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200" b="0" i="0">
                <a:solidFill>
                  <a:srgbClr val="6B7B8D"/>
                </a:solidFill>
                <a:latin typeface="Calibri"/>
              </a:rPr>
              <a:t>Q2/26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0634472" y="2295144"/>
            <a:ext cx="1316736" cy="237744"/>
          </a:xfrm>
          <a:prstGeom prst="rect">
            <a:avLst/>
          </a:prstGeom>
          <a:solidFill>
            <a:srgbClr val="DDD9D2"/>
          </a:solidFill>
          <a:ln w="635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6" name="TextBox 35"/>
          <p:cNvSpPr txBox="1"/>
          <p:nvPr/>
        </p:nvSpPr>
        <p:spPr>
          <a:xfrm>
            <a:off x="10634472" y="2295144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200" b="0" i="0">
                <a:solidFill>
                  <a:srgbClr val="6B7B8D"/>
                </a:solidFill>
                <a:latin typeface="Calibri"/>
              </a:rPr>
              <a:t>Not yet started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20040" y="2953512"/>
            <a:ext cx="11521440" cy="438912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0" name="Rectangle 39"/>
          <p:cNvSpPr/>
          <p:nvPr/>
        </p:nvSpPr>
        <p:spPr>
          <a:xfrm>
            <a:off x="320040" y="2953512"/>
            <a:ext cx="45720" cy="438912"/>
          </a:xfrm>
          <a:prstGeom prst="rect">
            <a:avLst/>
          </a:prstGeom>
          <a:solidFill>
            <a:srgbClr val="C4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1" name="TextBox 40"/>
          <p:cNvSpPr txBox="1"/>
          <p:nvPr/>
        </p:nvSpPr>
        <p:spPr>
          <a:xfrm>
            <a:off x="365759" y="3026664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5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2949047"/>
            <a:ext cx="3401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200" b="0" i="0">
                <a:solidFill>
                  <a:srgbClr val="6B7B8D"/>
                </a:solidFill>
                <a:latin typeface="Calibri"/>
              </a:rPr>
              <a:t>Xây dựng HDNV và HDQT theo các quyết định đã được duyệt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29200" y="3014732"/>
            <a:ext cx="2670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200">
                <a:solidFill>
                  <a:srgbClr val="6B7B8D"/>
                </a:solidFill>
                <a:latin typeface="Calibri"/>
              </a:rPr>
              <a:t>Product/Legal/Risk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040880" y="3026664"/>
            <a:ext cx="1938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200" b="0" i="0">
                <a:solidFill>
                  <a:srgbClr val="6B7B8D"/>
                </a:solidFill>
                <a:latin typeface="Calibri"/>
              </a:rPr>
              <a:t>Q2/26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0634472" y="3044952"/>
            <a:ext cx="1316736" cy="237744"/>
          </a:xfrm>
          <a:prstGeom prst="rect">
            <a:avLst/>
          </a:prstGeom>
          <a:solidFill>
            <a:srgbClr val="DDD9D2"/>
          </a:solidFill>
          <a:ln w="635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8" name="TextBox 47"/>
          <p:cNvSpPr txBox="1"/>
          <p:nvPr/>
        </p:nvSpPr>
        <p:spPr>
          <a:xfrm>
            <a:off x="10634472" y="3044952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200" b="0" i="0">
                <a:solidFill>
                  <a:srgbClr val="6B7B8D"/>
                </a:solidFill>
                <a:latin typeface="Calibri"/>
              </a:rPr>
              <a:t>In-progress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20040" y="3392424"/>
            <a:ext cx="11521440" cy="438912"/>
          </a:xfrm>
          <a:prstGeom prst="rect">
            <a:avLst/>
          </a:prstGeom>
          <a:solidFill>
            <a:srgbClr val="EE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0" name="Rectangle 49"/>
          <p:cNvSpPr/>
          <p:nvPr/>
        </p:nvSpPr>
        <p:spPr>
          <a:xfrm>
            <a:off x="320040" y="3392424"/>
            <a:ext cx="45720" cy="438912"/>
          </a:xfrm>
          <a:prstGeom prst="rect">
            <a:avLst/>
          </a:prstGeom>
          <a:solidFill>
            <a:srgbClr val="C4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1" name="TextBox 50"/>
          <p:cNvSpPr txBox="1"/>
          <p:nvPr/>
        </p:nvSpPr>
        <p:spPr>
          <a:xfrm>
            <a:off x="365759" y="3465576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5"/>
                </a:solidFill>
                <a:latin typeface="Calibr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3465576"/>
            <a:ext cx="3401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200" b="0" i="0">
                <a:solidFill>
                  <a:srgbClr val="6B7B8D"/>
                </a:solidFill>
                <a:latin typeface="Calibri"/>
              </a:rPr>
              <a:t>Xây dựng luồng onboarding mới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029200" y="3453644"/>
            <a:ext cx="2670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200" b="0" i="0">
                <a:solidFill>
                  <a:srgbClr val="6B7B8D"/>
                </a:solidFill>
                <a:latin typeface="Calibri"/>
              </a:rPr>
              <a:t>Product/Risk/Tech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40880" y="3465576"/>
            <a:ext cx="1938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200" b="0" i="0">
                <a:solidFill>
                  <a:srgbClr val="6B7B8D"/>
                </a:solidFill>
                <a:latin typeface="Calibri"/>
              </a:rPr>
              <a:t>Q2/26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0634472" y="3483864"/>
            <a:ext cx="1316736" cy="237744"/>
          </a:xfrm>
          <a:prstGeom prst="rect">
            <a:avLst/>
          </a:prstGeom>
          <a:solidFill>
            <a:srgbClr val="DDD9D2"/>
          </a:solidFill>
          <a:ln w="635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8" name="TextBox 57"/>
          <p:cNvSpPr txBox="1"/>
          <p:nvPr/>
        </p:nvSpPr>
        <p:spPr>
          <a:xfrm>
            <a:off x="10634472" y="3483864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200" b="0" i="0">
                <a:solidFill>
                  <a:srgbClr val="6B7B8D"/>
                </a:solidFill>
                <a:latin typeface="Calibri"/>
              </a:rPr>
              <a:t>Not yet Started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20040" y="3831336"/>
            <a:ext cx="11521440" cy="438912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0" name="Rectangle 59"/>
          <p:cNvSpPr/>
          <p:nvPr/>
        </p:nvSpPr>
        <p:spPr>
          <a:xfrm>
            <a:off x="320040" y="3831336"/>
            <a:ext cx="45720" cy="438912"/>
          </a:xfrm>
          <a:prstGeom prst="rect">
            <a:avLst/>
          </a:prstGeom>
          <a:solidFill>
            <a:srgbClr val="C4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1" name="TextBox 60"/>
          <p:cNvSpPr txBox="1"/>
          <p:nvPr/>
        </p:nvSpPr>
        <p:spPr>
          <a:xfrm>
            <a:off x="365759" y="3904488"/>
            <a:ext cx="384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A35"/>
                </a:solidFill>
                <a:latin typeface="Calibri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3860322"/>
            <a:ext cx="3401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200" b="0" i="0">
                <a:solidFill>
                  <a:srgbClr val="6B7B8D"/>
                </a:solidFill>
                <a:latin typeface="Calibri"/>
              </a:rPr>
              <a:t>Xây dựng bộ tiêu chí và công cụ đánh giá chứng từ MĐSDV/Tài chính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029200" y="3892556"/>
            <a:ext cx="2670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vi-VN" sz="1200" b="0" i="0">
                <a:solidFill>
                  <a:srgbClr val="6B7B8D"/>
                </a:solidFill>
                <a:latin typeface="Calibri"/>
              </a:rPr>
              <a:t>Risk/DS/Tech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040880" y="3904488"/>
            <a:ext cx="1938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200" b="0" i="0">
                <a:solidFill>
                  <a:srgbClr val="6B7B8D"/>
                </a:solidFill>
                <a:latin typeface="Calibri"/>
              </a:rPr>
              <a:t>Q2/26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0634472" y="3922776"/>
            <a:ext cx="1316736" cy="237744"/>
          </a:xfrm>
          <a:prstGeom prst="rect">
            <a:avLst/>
          </a:prstGeom>
          <a:solidFill>
            <a:srgbClr val="DDD9D2"/>
          </a:solidFill>
          <a:ln w="635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8" name="TextBox 67"/>
          <p:cNvSpPr txBox="1"/>
          <p:nvPr/>
        </p:nvSpPr>
        <p:spPr>
          <a:xfrm>
            <a:off x="10634472" y="3922776"/>
            <a:ext cx="1316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200" b="0" i="0">
                <a:solidFill>
                  <a:srgbClr val="6B7B8D"/>
                </a:solidFill>
                <a:latin typeface="Calibri"/>
              </a:rPr>
              <a:t>Not yet started</a:t>
            </a:r>
            <a:endParaRPr sz="1200" b="0" i="0">
              <a:solidFill>
                <a:srgbClr val="6B7B8D"/>
              </a:solidFill>
              <a:latin typeface="Calibri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20040" y="6455664"/>
            <a:ext cx="11521440" cy="292608"/>
          </a:xfrm>
          <a:prstGeom prst="rect">
            <a:avLst/>
          </a:prstGeom>
          <a:solidFill>
            <a:srgbClr val="1E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320040" y="6455664"/>
            <a:ext cx="45720" cy="29260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38912" y="6501383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843"/>
                </a:solidFill>
                <a:latin typeface="Calibri"/>
              </a:rPr>
              <a:t>⏱   Q2/2026: KYC Offline + MĐSDV Phase 1  |  Q3/2026: CM Tài chính + theo dõi TT 400M  |  Timeline có thể điều chỉnh sau khi phê duyệt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c922acb-b38d-4d71-ae2c-ef6c22b1542d}" enabled="1" method="Privileged" siteId="{9dd3e623-09fb-4fbf-8937-a6f939a1b34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1648</Words>
  <Application>Microsoft Macintosh PowerPoint</Application>
  <PresentationFormat>Custom</PresentationFormat>
  <Paragraphs>212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Hồ Đình Đạm (Head of Lending Product)</cp:lastModifiedBy>
  <cp:revision>2</cp:revision>
  <dcterms:created xsi:type="dcterms:W3CDTF">2013-01-27T09:14:16Z</dcterms:created>
  <dcterms:modified xsi:type="dcterms:W3CDTF">2026-04-09T11:24:09Z</dcterms:modified>
  <cp:category/>
</cp:coreProperties>
</file>