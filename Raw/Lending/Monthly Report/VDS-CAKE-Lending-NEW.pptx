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3"/>
              </a:gs>
              <a:gs pos="100000">
                <a:srgbClr val="2D1B55"/>
              </a:gs>
            </a:gsLst>
            <a:lin ang="9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1920240" cy="310896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VDS × CAKE  ·  TỔNG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Be Vietnam Pro"/>
              </a:rPr>
              <a:t>Cho Vay — Kết quả kinh doanh 01 – 05/2026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82A0"/>
                </a:solidFill>
                <a:latin typeface="Be Vietnam Pro"/>
              </a:rPr>
              <a:t>T5 vượt mốc 900 tỷ  ·  71% kế hoạch giải ngân YTD  ·  Tổng doanh thu VDS 172 tỷ (01–04/2026)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76218" cy="10058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76218" cy="109728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302757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2D71"/>
                </a:solidFill>
                <a:latin typeface="Be Vietnam Pro"/>
              </a:rPr>
              <a:t>DISBURSEMENT T5-26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3027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033"/>
                </a:solidFill>
                <a:latin typeface="Be Vietnam Pro"/>
              </a:rPr>
              <a:t>916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17881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Vượt đỉnh T1 (868B)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6749" y="2404872"/>
            <a:ext cx="17881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2A0"/>
                </a:solidFill>
                <a:latin typeface="Be Vietnam Pro"/>
              </a:rPr>
              <a:t>Target 900B+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1691640"/>
            <a:ext cx="3576218" cy="10058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7738" y="1691640"/>
            <a:ext cx="3576218" cy="109728"/>
          </a:xfrm>
          <a:prstGeom prst="roundRect">
            <a:avLst/>
          </a:prstGeom>
          <a:gradFill rotWithShape="1">
            <a:gsLst>
              <a:gs pos="0">
                <a:srgbClr val="0BC76A"/>
              </a:gs>
              <a:gs pos="100000">
                <a:srgbClr val="05995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2058" y="1856232"/>
            <a:ext cx="302757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BC76A"/>
                </a:solidFill>
                <a:latin typeface="Be Vietnam Pro"/>
              </a:rPr>
              <a:t>KẾ HOẠCH GIẢI NGÂN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2058" y="2039112"/>
            <a:ext cx="3027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033"/>
                </a:solidFill>
                <a:latin typeface="Be Vietnam Pro"/>
              </a:rPr>
              <a:t>71%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2058" y="2404872"/>
            <a:ext cx="17881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Hoàn thành YTD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2404872"/>
            <a:ext cx="17881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2A0"/>
                </a:solidFill>
                <a:latin typeface="Be Vietnam Pro"/>
              </a:rPr>
              <a:t>21% kế hoạch năm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691640"/>
            <a:ext cx="3576218" cy="10058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66836" y="1691640"/>
            <a:ext cx="3576218" cy="109728"/>
          </a:xfrm>
          <a:prstGeom prst="roundRect">
            <a:avLst/>
          </a:prstGeom>
          <a:gradFill rotWithShape="1">
            <a:gsLst>
              <a:gs pos="0">
                <a:srgbClr val="FF7A2F"/>
              </a:gs>
              <a:gs pos="100000">
                <a:srgbClr val="FF2D71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1856232"/>
            <a:ext cx="302757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7A2F"/>
                </a:solidFill>
                <a:latin typeface="Be Vietnam Pro"/>
              </a:rPr>
              <a:t>DOANH THU VDS (4 THÁNG)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1156" y="2039112"/>
            <a:ext cx="3027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033"/>
                </a:solidFill>
                <a:latin typeface="Be Vietnam Pro"/>
              </a:rPr>
              <a:t>172 tỷ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2404872"/>
            <a:ext cx="17881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40 – 47 tỷ / tháng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4945" y="2404872"/>
            <a:ext cx="17881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2A0"/>
                </a:solidFill>
                <a:latin typeface="Be Vietnam Pro"/>
              </a:rPr>
              <a:t>Ổn định qua các tháng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852928"/>
            <a:ext cx="11094415" cy="457200"/>
          </a:xfrm>
          <a:prstGeom prst="roundRect">
            <a:avLst/>
          </a:prstGeom>
          <a:solidFill>
            <a:srgbClr val="2D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98094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2A0"/>
                </a:solidFill>
                <a:latin typeface="Be Vietnam Pro"/>
              </a:rPr>
              <a:t>GIẢI NGÂN (TỶ VND)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2980944"/>
            <a:ext cx="14985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T12-25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0309" y="2980944"/>
            <a:ext cx="14985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T1-26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8858" y="2980944"/>
            <a:ext cx="14985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T2-26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7407" y="2980944"/>
            <a:ext cx="14985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T3-26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5956" y="2980944"/>
            <a:ext cx="14985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T4-26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4505" y="2980944"/>
            <a:ext cx="14985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2D71"/>
                </a:solidFill>
                <a:latin typeface="Be Vietnam Pro"/>
              </a:rPr>
              <a:t>T5-26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310128"/>
            <a:ext cx="11094415" cy="438912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310128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2A0"/>
                </a:solidFill>
                <a:latin typeface="Be Vietnam Pro"/>
              </a:rPr>
              <a:t>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310128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2A0"/>
                </a:solidFill>
                <a:latin typeface="Be Vietnam Pro"/>
              </a:rPr>
              <a:t>862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0309" y="3310128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2A0"/>
                </a:solidFill>
                <a:latin typeface="Be Vietnam Pro"/>
              </a:rPr>
              <a:t>1.165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48858" y="3310128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2A0"/>
                </a:solidFill>
                <a:latin typeface="Be Vietnam Pro"/>
              </a:rPr>
              <a:t>1.006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7407" y="3310128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2A0"/>
                </a:solidFill>
                <a:latin typeface="Be Vietnam Pro"/>
              </a:rPr>
              <a:t>1.263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5956" y="3310128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2A0"/>
                </a:solidFill>
                <a:latin typeface="Be Vietnam Pro"/>
              </a:rPr>
              <a:t>1.353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4505" y="3310128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2A0"/>
                </a:solidFill>
                <a:latin typeface="Be Vietnam Pro"/>
              </a:rPr>
              <a:t>1.454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749040"/>
            <a:ext cx="11094415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74904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033"/>
                </a:solidFill>
                <a:latin typeface="Be Vietnam Pro"/>
              </a:rPr>
              <a:t>Actual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3749040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862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50309" y="3749040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868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48858" y="3749040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682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47407" y="3749040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865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5956" y="3749040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835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4505" y="3749040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2D71"/>
                </a:solidFill>
                <a:latin typeface="Be Vietnam Pro"/>
              </a:rPr>
              <a:t>916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87952"/>
            <a:ext cx="11094415" cy="438912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18795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A4460"/>
                </a:solidFill>
                <a:latin typeface="Be Vietnam Pro"/>
              </a:rPr>
              <a:t>% Ach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51760" y="4187952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50309" y="4187952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48858" y="4187952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68%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47407" y="4187952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69%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5956" y="4187952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62%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4505" y="4187952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63%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626864"/>
            <a:ext cx="11094415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462686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A4460"/>
                </a:solidFill>
                <a:latin typeface="Be Vietnam Pro"/>
              </a:rPr>
              <a:t>DT VDS (tỷ)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0" y="4626864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50309" y="4626864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47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48858" y="4626864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43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47407" y="4626864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5956" y="4626864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4505" y="4626864"/>
            <a:ext cx="149854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460"/>
                </a:solidFill>
                <a:latin typeface="Be Vietnam Pro"/>
              </a:rPr>
              <a:t>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230368"/>
            <a:ext cx="11094415" cy="1280160"/>
          </a:xfrm>
          <a:prstGeom prst="roundRect">
            <a:avLst/>
          </a:prstGeom>
          <a:solidFill>
            <a:srgbClr val="2D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1520" y="5376672"/>
            <a:ext cx="1097280" cy="237744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37667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NHẬN ĐỊNH</a:t>
            </a:r>
          </a:p>
        </p:txBody>
      </p:sp>
      <p:sp>
        <p:nvSpPr>
          <p:cNvPr id="69" name="Oval 68"/>
          <p:cNvSpPr/>
          <p:nvPr/>
        </p:nvSpPr>
        <p:spPr>
          <a:xfrm>
            <a:off x="822960" y="5797296"/>
            <a:ext cx="91440" cy="9144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1560" y="5705856"/>
            <a:ext cx="10317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Be Vietnam Pro"/>
              </a:rPr>
              <a:t>Tháng 5 dự kiến vượt đỉnh giải ngân của Tháng 1 và vượt qua mốc 900 tỷ / tháng</a:t>
            </a:r>
          </a:p>
        </p:txBody>
      </p:sp>
      <p:sp>
        <p:nvSpPr>
          <p:cNvPr id="71" name="Oval 70"/>
          <p:cNvSpPr/>
          <p:nvPr/>
        </p:nvSpPr>
        <p:spPr>
          <a:xfrm>
            <a:off x="822960" y="6071616"/>
            <a:ext cx="91440" cy="9144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1560" y="5980176"/>
            <a:ext cx="10317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Be Vietnam Pro"/>
              </a:rPr>
              <a:t>Hoàn thành 71% kế hoạch giải ngân YTD, 21% kế hoạch giải ngân năm</a:t>
            </a:r>
          </a:p>
        </p:txBody>
      </p:sp>
      <p:sp>
        <p:nvSpPr>
          <p:cNvPr id="73" name="Oval 72"/>
          <p:cNvSpPr/>
          <p:nvPr/>
        </p:nvSpPr>
        <p:spPr>
          <a:xfrm>
            <a:off x="822960" y="6345936"/>
            <a:ext cx="91440" cy="9144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1560" y="6254496"/>
            <a:ext cx="10317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Be Vietnam Pro"/>
              </a:rPr>
              <a:t>Doanh thu VDS hàng tháng 40 – 47 tỷ. Tổng 01 – 04/2026 = 172 tỷ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565392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2A0"/>
                </a:solidFill>
                <a:latin typeface="Be Vietnam Pro"/>
              </a:rPr>
              <a:t>Nguồn: VDS deck — Cho Vay: Kết quả kinh doanh 01–05/2026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05695" y="656539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Slide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3"/>
              </a:gs>
              <a:gs pos="100000">
                <a:srgbClr val="2D1B55"/>
              </a:gs>
            </a:gsLst>
            <a:lin ang="9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1828800" cy="310896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VDS × CAKE  ·  PAYLATER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Be Vietnam Pro"/>
              </a:rPr>
              <a:t>Paylater — 2 đòn bẩy để bứt phá trong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82A0"/>
                </a:solidFill>
                <a:latin typeface="Be Vietnam Pro"/>
              </a:rPr>
              <a:t>Để đạt mục tiêu Paylater 2026, VDS và CAKE cần đồng thuận triển khai (1) cơ chế phê duyệt mới và (2) mở rộng use case ngoài bill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5285232" cy="388620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285232" cy="713232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55648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ĐÒN BẨY #1  · 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8424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Be Vietnam Pro"/>
              </a:rPr>
              <a:t>Cơ chế phê duyệt mới — New Paylater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2D71"/>
                </a:solidFill>
                <a:latin typeface="Be Vietnam Pro"/>
              </a:rPr>
              <a:t>VÌ SAO CẦN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15768"/>
            <a:ext cx="4572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4460"/>
                </a:solidFill>
                <a:latin typeface="Be Vietnam Pro"/>
              </a:rPr>
              <a:t>Score hiện tại chưa khai thác hành vi e-wallet VTM — AR bị giới hạn với KH ngoại mạng &amp; repeat. PBO Q1.26 VDS PL = −1.1 Bil (lỗ), NPL CIC 22.5%.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2D71"/>
                </a:solidFill>
                <a:latin typeface="Be Vietnam Pro"/>
              </a:rPr>
              <a:t>VDS CẦN COMMIT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566160"/>
            <a:ext cx="91440" cy="9144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3474720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033"/>
                </a:solidFill>
                <a:latin typeface="Be Vietnam Pro"/>
              </a:rPr>
              <a:t>Mở dữ liệu hành vi ví VTM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feature giao dịch, nạp/rút, thanh toán — input cho score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050792"/>
            <a:ext cx="91440" cy="9144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3959352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033"/>
                </a:solidFill>
                <a:latin typeface="Be Vietnam Pro"/>
              </a:rPr>
              <a:t>Phối hợp Risk build &amp; backtest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60520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New Paylater Score riêng tệp VDS, cut-off per segment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4535424"/>
            <a:ext cx="91440" cy="9144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443984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033"/>
                </a:solidFill>
                <a:latin typeface="Be Vietnam Pro"/>
              </a:rPr>
              <a:t>Relax province filter &amp; bypass score cũ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645152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đúng cơ chế VDS × Cake — mở rộng tệp eligible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74920"/>
            <a:ext cx="4736592" cy="393192"/>
          </a:xfrm>
          <a:prstGeom prst="roundRect">
            <a:avLst/>
          </a:prstGeom>
          <a:solidFill>
            <a:srgbClr val="1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1149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KỲ VỌNG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Be Vietnam Pro"/>
              </a:rPr>
              <a:t>AR tăng đáng kể trên tệp ngoại mạng &amp; repeat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1114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23951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C76A"/>
                </a:solidFill>
                <a:latin typeface="Be Vietnam Pro"/>
              </a:rPr>
              <a:t>Q3'26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1691640"/>
            <a:ext cx="5285232" cy="388620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1691640"/>
            <a:ext cx="5285232" cy="713232"/>
          </a:xfrm>
          <a:prstGeom prst="roundRect">
            <a:avLst/>
          </a:prstGeom>
          <a:gradFill rotWithShape="1">
            <a:gsLst>
              <a:gs pos="0">
                <a:srgbClr val="FF7A2F"/>
              </a:gs>
              <a:gs pos="100000">
                <a:srgbClr val="FF2D71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75564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1755648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ĐÒN BẨY #2  · 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98424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Be Vietnam Pro"/>
              </a:rPr>
              <a:t>Đa dạng hoá spending category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49631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7A2F"/>
                </a:solidFill>
                <a:latin typeface="Be Vietnam Pro"/>
              </a:rPr>
              <a:t>TÌNH TRẠNG HIỆN TẠI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715768"/>
            <a:ext cx="4572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4460"/>
                </a:solidFill>
                <a:latin typeface="Be Vietnam Pro"/>
              </a:rPr>
              <a:t>Active rate VDS PL chỉ 9.1% (7.053/77.228) — đang giảm dần. Chi tiêu ~100% vào BILL (điện + thẻ cào), tần suất 1×/tháng, balance không nở.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2004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7A2F"/>
                </a:solidFill>
                <a:latin typeface="Be Vietnam Pro"/>
              </a:rPr>
              <a:t>VDS CẦN COMMIT</a:t>
            </a:r>
          </a:p>
        </p:txBody>
      </p:sp>
      <p:sp>
        <p:nvSpPr>
          <p:cNvPr id="38" name="Oval 37"/>
          <p:cNvSpPr/>
          <p:nvPr/>
        </p:nvSpPr>
        <p:spPr>
          <a:xfrm>
            <a:off x="6766560" y="3566160"/>
            <a:ext cx="91440" cy="91440"/>
          </a:xfrm>
          <a:prstGeom prst="ellipse">
            <a:avLst/>
          </a:prstGeom>
          <a:solidFill>
            <a:srgbClr val="FF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3474720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033"/>
                </a:solidFill>
                <a:latin typeface="Be Vietnam Pro"/>
              </a:rPr>
              <a:t>Mở Open Loop POS / ONL / ATM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6872" y="3675888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bundling Virtual CC + Paylater, chi tiêu ngoài app VDS</a:t>
            </a:r>
          </a:p>
        </p:txBody>
      </p:sp>
      <p:sp>
        <p:nvSpPr>
          <p:cNvPr id="41" name="Oval 40"/>
          <p:cNvSpPr/>
          <p:nvPr/>
        </p:nvSpPr>
        <p:spPr>
          <a:xfrm>
            <a:off x="6766560" y="4050792"/>
            <a:ext cx="91440" cy="91440"/>
          </a:xfrm>
          <a:prstGeom prst="ellipse">
            <a:avLst/>
          </a:prstGeom>
          <a:solidFill>
            <a:srgbClr val="FF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76872" y="3959352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033"/>
                </a:solidFill>
                <a:latin typeface="Be Vietnam Pro"/>
              </a:rPr>
              <a:t>Tích hợp tokenization vào ví VTM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4160520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Apple Pay · Google Pay · Cake Pay — offline + online</a:t>
            </a:r>
          </a:p>
        </p:txBody>
      </p:sp>
      <p:sp>
        <p:nvSpPr>
          <p:cNvPr id="44" name="Oval 43"/>
          <p:cNvSpPr/>
          <p:nvPr/>
        </p:nvSpPr>
        <p:spPr>
          <a:xfrm>
            <a:off x="6766560" y="4535424"/>
            <a:ext cx="91440" cy="91440"/>
          </a:xfrm>
          <a:prstGeom prst="ellipse">
            <a:avLst/>
          </a:prstGeom>
          <a:solidFill>
            <a:srgbClr val="FF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76872" y="4443984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033"/>
                </a:solidFill>
                <a:latin typeface="Be Vietnam Pro"/>
              </a:rPr>
              <a:t>Mở rộng merchant ngoài bill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4645152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F&amp;B · e-commerce · transport · supermarket · giáo dục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5074920"/>
            <a:ext cx="4736592" cy="393192"/>
          </a:xfrm>
          <a:prstGeom prst="roundRect">
            <a:avLst/>
          </a:prstGeom>
          <a:solidFill>
            <a:srgbClr val="1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511149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KỲ VỌNG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2578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Be Vietnam Pro"/>
              </a:rPr>
              <a:t>Active rate phục hồi, balance/active tăng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51114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GO-LIVE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523951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C76A"/>
                </a:solidFill>
                <a:latin typeface="Be Vietnam Pro"/>
              </a:rPr>
              <a:t>Q4'26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687568"/>
            <a:ext cx="11094415" cy="548640"/>
          </a:xfrm>
          <a:prstGeom prst="roundRect">
            <a:avLst/>
          </a:prstGeom>
          <a:solidFill>
            <a:srgbClr val="2D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13232" y="5833872"/>
            <a:ext cx="1188720" cy="256032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58338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BACKUP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13432" y="5742432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77.228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6016752"/>
            <a:ext cx="16885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Accumulated accounts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0251" y="5779008"/>
            <a:ext cx="9525" cy="365760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84843" y="5742432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7.053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4843" y="6016752"/>
            <a:ext cx="16885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Active accounts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1662" y="5779008"/>
            <a:ext cx="9525" cy="365760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56254" y="5742432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9.1%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56254" y="6016752"/>
            <a:ext cx="16885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Active rate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63073" y="5779008"/>
            <a:ext cx="9525" cy="365760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27665" y="5742432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22,4 Bil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27665" y="6016752"/>
            <a:ext cx="16885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Spending Q1.26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34484" y="5779008"/>
            <a:ext cx="9525" cy="365760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99076" y="5742432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7.4%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99076" y="6016752"/>
            <a:ext cx="16885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Roll-rate B0→B1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2A0"/>
                </a:solidFill>
                <a:latin typeface="Be Vietnam Pro"/>
              </a:rPr>
              <a:t>Nguồn: VDS Paylater Performance Q1.26 · Lending Portfolio Review May'26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5695" y="656539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Slide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3"/>
              </a:gs>
              <a:gs pos="100000">
                <a:srgbClr val="2D1B55"/>
              </a:gs>
            </a:gsLst>
            <a:lin ang="9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1920240" cy="310896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VDS × CAKE  ·  CASH LOAN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Be Vietnam Pro"/>
              </a:rPr>
              <a:t>Cash Loan — Đường tới 1.000 tỷ / tháng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82A0"/>
                </a:solidFill>
                <a:latin typeface="Be Vietnam Pro"/>
              </a:rPr>
              <a:t>Cake đã hoàn thành phần tối ưu funnel — VDS đẩy traffic là đòn bẩy duy nhất còn lại để đóng gap +90% disbursement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685800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TRAFFIC T5-26 vs T12-25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Be Vietnam Pro"/>
              </a:rPr>
              <a:t>−14.4%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1168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Be Vietnam Pro"/>
              </a:rPr>
              <a:t>1.41M → 1.21M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952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DISBURSEMENT T5-26 vs T12-25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476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Be Vietnam Pro"/>
              </a:rPr>
              <a:t>−1.7%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Be Vietnam Pro"/>
              </a:rPr>
              <a:t>549 B → 539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952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KẾT LUẬN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476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Be Vietnam Pro"/>
              </a:rPr>
              <a:t>Cake fix funnel xong  ·  VDS push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87168"/>
            <a:ext cx="11094415" cy="502920"/>
          </a:xfrm>
          <a:prstGeom prst="roundRect">
            <a:avLst/>
          </a:prstGeom>
          <a:solidFill>
            <a:srgbClr val="2D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33472"/>
            <a:ext cx="27863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2A0"/>
                </a:solidFill>
                <a:latin typeface="Be Vietnam Pro"/>
              </a:rPr>
              <a:t>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3569" y="2633472"/>
            <a:ext cx="19176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T12-25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1218" y="2633472"/>
            <a:ext cx="12775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A82A0"/>
                </a:solidFill>
                <a:latin typeface="Be Vietnam Pro"/>
              </a:rPr>
              <a:t>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8787" y="2633472"/>
            <a:ext cx="19176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2D71"/>
                </a:solidFill>
                <a:latin typeface="Be Vietnam Pro"/>
              </a:rPr>
              <a:t>T5-26  ·  HIỆN TẠI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6436" y="2633472"/>
            <a:ext cx="12775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A82A0"/>
                </a:solidFill>
                <a:latin typeface="Be Vietnam Pro"/>
              </a:rPr>
              <a:t>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4005" y="2633472"/>
            <a:ext cx="19176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C76A"/>
                </a:solidFill>
                <a:latin typeface="Be Vietnam Pro"/>
              </a:rPr>
              <a:t>TARGET 1.000B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90088"/>
            <a:ext cx="11094415" cy="4572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990088"/>
            <a:ext cx="278632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Traffic (app-in)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3569" y="29900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4460"/>
                </a:solidFill>
                <a:latin typeface="Be Vietnam Pro"/>
              </a:rPr>
              <a:t>1.415.316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1218" y="29900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7A2F"/>
                </a:solidFill>
                <a:latin typeface="Be Vietnam Pro"/>
              </a:rPr>
              <a:t>−14.4%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8787" y="29900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1.211.173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6436" y="29900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+56.4% 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4005" y="29900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1.851.852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447288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447288"/>
            <a:ext cx="278632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Conversion rate (E2E)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3569" y="34472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4460"/>
                </a:solidFill>
                <a:latin typeface="Be Vietnam Pro"/>
              </a:rPr>
              <a:t>2,3%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1218" y="34472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+14.9% 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8787" y="34472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2,7%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6436" y="34472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+11.1% 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4005" y="34472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3,0%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04488"/>
            <a:ext cx="11094415" cy="4572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04488"/>
            <a:ext cx="278632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Ticket size (M VND)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3569" y="39044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4460"/>
                </a:solidFill>
                <a:latin typeface="Be Vietnam Pro"/>
              </a:rPr>
              <a:t>16,5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1218" y="39044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A82A0"/>
                </a:solidFill>
                <a:latin typeface="Be Vietnam Pro"/>
              </a:rPr>
              <a:t>0% 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787" y="39044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16,5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6436" y="39044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+9.8% 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54005" y="39044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18,0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61688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361688"/>
            <a:ext cx="278632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Disbursement (Bil VND)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3569" y="43616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4460"/>
                </a:solidFill>
                <a:latin typeface="Be Vietnam Pro"/>
              </a:rPr>
              <a:t>549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1218" y="43616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7A2F"/>
                </a:solidFill>
                <a:latin typeface="Be Vietnam Pro"/>
              </a:rPr>
              <a:t>−1.7% 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58787" y="43616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539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6436" y="4361688"/>
            <a:ext cx="127756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+90.7% 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54005" y="4361688"/>
            <a:ext cx="1917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1.000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956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2D71"/>
                </a:solidFill>
                <a:latin typeface="Be Vietnam Pro"/>
              </a:rPr>
              <a:t>VDS CẦN COMMIT  ·  ĐÓNG GAP +56% TRAFFIC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230368"/>
            <a:ext cx="3588410" cy="7772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394960"/>
            <a:ext cx="411480" cy="41148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394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358384"/>
            <a:ext cx="27197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Đẩy traffic share cho CAKE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641848"/>
            <a:ext cx="27197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Target 1.85M app-in / tháng — tăng +28% so với T12-25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01642" y="5230368"/>
            <a:ext cx="3588410" cy="7772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484522" y="5394960"/>
            <a:ext cx="411480" cy="41148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4522" y="5394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33162" y="5358384"/>
            <a:ext cx="27197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Mở rộng kênh ngoại mạng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33162" y="5641848"/>
            <a:ext cx="27197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SMS + luồng vay tiền kết hợp tạo tài khoản VTM cho KH chưa có ví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54644" y="5230368"/>
            <a:ext cx="3588410" cy="7772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237524" y="5394960"/>
            <a:ext cx="411480" cy="41148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37524" y="5394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86164" y="5358384"/>
            <a:ext cx="27197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Truyền thông + Credit Score ví VTM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86164" y="5641848"/>
            <a:ext cx="27197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Push KH ngoại mạng + xây score riêng để tăng conversion 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565392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2A0"/>
                </a:solidFill>
                <a:latin typeface="Be Vietnam Pro"/>
              </a:rPr>
              <a:t>Nguồn: VDS deck — SP Cashloan Review T12-25 vs T5-26 · Road to 1.000 tỷ/tháng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05695" y="656539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Slide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3"/>
              </a:gs>
              <a:gs pos="100000">
                <a:srgbClr val="2D1B55"/>
              </a:gs>
            </a:gsLst>
            <a:lin ang="9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1920240" cy="310896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VDS × CAKE  ·  CASH LOAN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Be Vietnam Pro"/>
              </a:rPr>
              <a:t>Cash Loan — Balance gấp đôi, Risk cải thiện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82A0"/>
                </a:solidFill>
                <a:latin typeface="Be Vietnam Pro"/>
              </a:rPr>
              <a:t>Từ T3/2026 trở đi, hiệu quả VDS Cashloan tốt nhất — doanh thu mang lại cao nhất và bền vững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40680" cy="23774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440680" cy="164592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2D71"/>
                </a:solidFill>
                <a:latin typeface="Be Vietnam Pro"/>
              </a:rPr>
              <a:t>PORTFOLIO BALANCE  ·  LOAN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A1033"/>
                </a:solidFill>
                <a:latin typeface="Be Vietnam Pro"/>
              </a:rPr>
              <a:t>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1.753 B → 3.554 B  ·  T8-25 → T5-26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39312"/>
            <a:ext cx="4709160" cy="9525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709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CHI TIẾT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460"/>
                </a:solidFill>
                <a:latin typeface="Be Vietnam Pro"/>
              </a:rPr>
              <a:t>Loan Book Cashloan tăng gấp đôi trong 9 tháng — đỉnh giải ngân kéo dài, customer retention tốt.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5440680" cy="23774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440680" cy="164592"/>
          </a:xfrm>
          <a:prstGeom prst="roundRect">
            <a:avLst/>
          </a:prstGeom>
          <a:gradFill rotWithShape="1">
            <a:gsLst>
              <a:gs pos="0">
                <a:srgbClr val="0BC76A"/>
              </a:gs>
              <a:gs pos="100000">
                <a:srgbClr val="05995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57400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ROLL RATE  B0 → 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A1033"/>
                </a:solidFill>
                <a:latin typeface="Be Vietnam Pro"/>
              </a:rPr>
              <a:t>−15%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101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4.63% → 3.93%  ·  T10-25 → T5-26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639312"/>
            <a:ext cx="4709160" cy="9525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703320"/>
            <a:ext cx="4709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CHI TIẾT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460"/>
                </a:solidFill>
                <a:latin typeface="Be Vietnam Pro"/>
              </a:rPr>
              <a:t>Roll Rate B0→B1 giảm liên tục dù balance ×2 — chất lượng cho vay cải thiện thực sự, không chỉ pha loãng.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24528"/>
            <a:ext cx="11094415" cy="1005840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1">
                <a:solidFill>
                  <a:srgbClr val="FFFFFF"/>
                </a:solidFill>
                <a:latin typeface="Be Vietnam Pro"/>
              </a:rPr>
              <a:t>“Hiệu quả tốt nhất → Doanh thu mang lại cao nhất”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18888"/>
            <a:ext cx="101800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Be Vietnam Pro"/>
              </a:rPr>
              <a:t>Balance gấp đôi nhưng Risk vẫn cải thiện — mô hình kinh doanh CL bền vững, có dư địa scale tiếp.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1094415" cy="640080"/>
          </a:xfrm>
          <a:prstGeom prst="roundRect">
            <a:avLst/>
          </a:prstGeom>
          <a:solidFill>
            <a:srgbClr val="2D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5541264"/>
            <a:ext cx="1188720" cy="256032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5412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BACKUP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3432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1.753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3432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Loan Book  ·  T8.25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8103" y="5468112"/>
            <a:ext cx="9525" cy="402336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2695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3.554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2695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Loan Book  ·  T5.26  ·  ×2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7367" y="5468112"/>
            <a:ext cx="9525" cy="402336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1959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4.63%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1959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RR B0→B1  ·  T10.25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6631" y="5468112"/>
            <a:ext cx="9525" cy="402336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1223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3.93%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1223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RR B0→B1  ·  T5.26  ·  −15%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65392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2A0"/>
                </a:solidFill>
                <a:latin typeface="Be Vietnam Pro"/>
              </a:rPr>
              <a:t>Nguồn: Lending Portfolio Review May'26 (Loan Book) · VDS Cashloan Risk Performance (RR B0→B1)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5695" y="656539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Slide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3"/>
              </a:gs>
              <a:gs pos="100000">
                <a:srgbClr val="2D1B55"/>
              </a:gs>
            </a:gsLst>
            <a:lin ang="9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1783080" cy="310896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VDS × CAKE  ·  PAYDAY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Be Vietnam Pro"/>
              </a:rPr>
              <a:t>Payday — Balance gấp đôi, Risk cải thiện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82A0"/>
                </a:solidFill>
                <a:latin typeface="Be Vietnam Pro"/>
              </a:rPr>
              <a:t>Payday đang theo đúng đà tăng trưởng bền vững — balance ×2 nhưng roll rate vẫn giảm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40680" cy="23774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440680" cy="164592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2D71"/>
                </a:solidFill>
                <a:latin typeface="Be Vietnam Pro"/>
              </a:rPr>
              <a:t>PORTFOLIO BALANCE  ·  LOAN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A1033"/>
                </a:solidFill>
                <a:latin typeface="Be Vietnam Pro"/>
              </a:rPr>
              <a:t>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250 B → 539 B  ·  T8-25 → T5-26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39312"/>
            <a:ext cx="4709160" cy="9525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709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CHI TIẾT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460"/>
                </a:solidFill>
                <a:latin typeface="Be Vietnam Pro"/>
              </a:rPr>
              <a:t>Loan Book Payday tăng gấp đôi trong 9 tháng — momentum acquisition tốt, repeat customers nở dần.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5440680" cy="23774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440680" cy="164592"/>
          </a:xfrm>
          <a:prstGeom prst="roundRect">
            <a:avLst/>
          </a:prstGeom>
          <a:gradFill rotWithShape="1">
            <a:gsLst>
              <a:gs pos="0">
                <a:srgbClr val="0BC76A"/>
              </a:gs>
              <a:gs pos="100000">
                <a:srgbClr val="05995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57400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ROLL RATE  B0 → 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A1033"/>
                </a:solidFill>
                <a:latin typeface="Be Vietnam Pro"/>
              </a:rPr>
              <a:t>−15%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101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8.2% → 7.0%  ·  T11-25 → T5-26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639312"/>
            <a:ext cx="4709160" cy="9525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703320"/>
            <a:ext cx="4709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2A0"/>
                </a:solidFill>
                <a:latin typeface="Be Vietnam Pro"/>
              </a:rPr>
              <a:t>CHI TIẾT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460"/>
                </a:solidFill>
                <a:latin typeface="Be Vietnam Pro"/>
              </a:rPr>
              <a:t>Roll Rate B0→B1 giảm liên tục dù balance ×2 — chất lượng cho vay Payday cải thiện thực sự.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24528"/>
            <a:ext cx="11094415" cy="1005840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1">
                <a:solidFill>
                  <a:srgbClr val="FFFFFF"/>
                </a:solidFill>
                <a:latin typeface="Be Vietnam Pro"/>
              </a:rPr>
              <a:t>“Risk ổn định qua các tháng — Doanh thu Payday bền vững”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18888"/>
            <a:ext cx="101800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Be Vietnam Pro"/>
              </a:rPr>
              <a:t>Balance ×2 nhưng Risk cải thiện — Payday đã sẵn sàng đẩy mạnh để hướng tới mốc 700 tỷ / tháng.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1094415" cy="640080"/>
          </a:xfrm>
          <a:prstGeom prst="roundRect">
            <a:avLst/>
          </a:prstGeom>
          <a:solidFill>
            <a:srgbClr val="2D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5541264"/>
            <a:ext cx="1188720" cy="256032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5412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BACKUP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3432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250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3432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Loan Book  ·  T8.25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8103" y="5468112"/>
            <a:ext cx="9525" cy="402336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2695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539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2695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Loan Book  ·  T5.26  ·  ×2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7367" y="5468112"/>
            <a:ext cx="9525" cy="402336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1959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8.2%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1959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RR B0→B1  ·  T11.25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6631" y="5468112"/>
            <a:ext cx="9525" cy="402336"/>
          </a:xfrm>
          <a:prstGeom prst="rect">
            <a:avLst/>
          </a:prstGeom>
          <a:solidFill>
            <a:srgbClr val="8A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1223" y="5440680"/>
            <a:ext cx="2156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2D71"/>
                </a:solidFill>
                <a:latin typeface="Be Vietnam Pro"/>
              </a:rPr>
              <a:t>7.0%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1223" y="5733288"/>
            <a:ext cx="2156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82A0"/>
                </a:solidFill>
                <a:latin typeface="Be Vietnam Pro"/>
              </a:rPr>
              <a:t>RR B0→B1  ·  T5.26  ·  −15%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65392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2A0"/>
                </a:solidFill>
                <a:latin typeface="Be Vietnam Pro"/>
              </a:rPr>
              <a:t>Nguồn: Lending Portfolio Review May'26 (Loan Book) · VDS Payday Roll Forward (RR B0→B1)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5695" y="656539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Slide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3"/>
              </a:gs>
              <a:gs pos="100000">
                <a:srgbClr val="2D1B55"/>
              </a:gs>
            </a:gsLst>
            <a:lin ang="9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1783080" cy="310896"/>
          </a:xfrm>
          <a:prstGeom prst="roundRect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VDS × CAKE  ·  PAYDAY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Be Vietnam Pro"/>
              </a:rPr>
              <a:t>Payday — Đường tới 700 tỷ / tháng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82A0"/>
                </a:solidFill>
                <a:latin typeface="Be Vietnam Pro"/>
              </a:rPr>
              <a:t>Momentum Payday tốt — VDS đẩy traffic để rút ngắn đường tới mốc 700 tỷ / tháng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685800"/>
          </a:xfrm>
          <a:prstGeom prst="roundRect">
            <a:avLst/>
          </a:prstGeom>
          <a:gradFill rotWithShape="1">
            <a:gsLst>
              <a:gs pos="0">
                <a:srgbClr val="FF2D71"/>
              </a:gs>
              <a:gs pos="100000">
                <a:srgbClr val="7B2FB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DISBURSEMENT T5-26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Be Vietnam Pro"/>
              </a:rPr>
              <a:t>374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Be Vietnam Pro"/>
              </a:rPr>
              <a:t>actual T5-26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952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TARGET DISBURSEMENT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476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Be Vietnam Pro"/>
              </a:rPr>
              <a:t>700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01168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Be Vietnam Pro"/>
              </a:rPr>
              <a:t>+87.4%  ·  gap +326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952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ĐÒN BẨY CHÍNH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476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Be Vietnam Pro"/>
              </a:rPr>
              <a:t>Traffic +55.8%  →  1.5M app-in / tháng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87168"/>
            <a:ext cx="11094415" cy="502920"/>
          </a:xfrm>
          <a:prstGeom prst="roundRect">
            <a:avLst/>
          </a:prstGeom>
          <a:solidFill>
            <a:srgbClr val="2D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3347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2A0"/>
                </a:solidFill>
                <a:latin typeface="Be Vietnam Pro"/>
              </a:rPr>
              <a:t>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633472"/>
            <a:ext cx="26008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2D71"/>
                </a:solidFill>
                <a:latin typeface="Be Vietnam Pro"/>
              </a:rPr>
              <a:t>T5-26  ·  HIỆN TẠI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938" y="2633472"/>
            <a:ext cx="26008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A82A0"/>
                </a:solidFill>
                <a:latin typeface="Be Vietnam Pro"/>
              </a:rPr>
              <a:t>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0796" y="2633472"/>
            <a:ext cx="26008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C76A"/>
                </a:solidFill>
                <a:latin typeface="Be Vietnam Pro"/>
              </a:rPr>
              <a:t>TARGET 700B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90088"/>
            <a:ext cx="11094415" cy="4572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9900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Traffic (app-in)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9900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960.000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9938" y="29900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+55.8% 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0796" y="29900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1.495.726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47288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472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Conversion rate (E2E)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34472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12,2%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9938" y="34472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+6.9% 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0796" y="34472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13,0%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04488"/>
            <a:ext cx="11094415" cy="4572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9044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Ticket size (M VND)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39044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4,0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9938" y="39044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+12.5% 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0796" y="39044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4,5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61688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3616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Disbursement (Bil VND)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43616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2D71"/>
                </a:solidFill>
                <a:latin typeface="Be Vietnam Pro"/>
              </a:rPr>
              <a:t>374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9938" y="43616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C76A"/>
                </a:solidFill>
                <a:latin typeface="Be Vietnam Pro"/>
              </a:rPr>
              <a:t>+87.4% 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0796" y="4361688"/>
            <a:ext cx="2600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C76A"/>
                </a:solidFill>
                <a:latin typeface="Be Vietnam Pro"/>
              </a:rPr>
              <a:t>700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56048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2D71"/>
                </a:solidFill>
                <a:latin typeface="Be Vietnam Pro"/>
              </a:rPr>
              <a:t>VDS CẦN COMMIT  ·  ĐÓNG GAP +55.8% TRAFFIC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230368"/>
            <a:ext cx="3588410" cy="7772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1520" y="5394960"/>
            <a:ext cx="411480" cy="41148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394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358384"/>
            <a:ext cx="27197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Bổ sung icon Vay ngắn ngày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641848"/>
            <a:ext cx="27197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Đặt vào khu vực Vay tiền — nơi có traffic cao nhất trong app VTM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01642" y="5230368"/>
            <a:ext cx="3588410" cy="7772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84522" y="5394960"/>
            <a:ext cx="411480" cy="41148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4522" y="5394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33162" y="5358384"/>
            <a:ext cx="27197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Build Credit Score ngoại mạng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33162" y="5641848"/>
            <a:ext cx="27197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Tăng Conversion Rate cho tệp KH chưa có VTM, dựa trên hành vi ví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54644" y="5230368"/>
            <a:ext cx="3588410" cy="777240"/>
          </a:xfrm>
          <a:prstGeom prst="round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237524" y="5394960"/>
            <a:ext cx="411480" cy="411480"/>
          </a:xfrm>
          <a:prstGeom prst="ellipse">
            <a:avLst/>
          </a:prstGeom>
          <a:solidFill>
            <a:srgbClr val="FF2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37524" y="5394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86164" y="5358384"/>
            <a:ext cx="27197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033"/>
                </a:solidFill>
                <a:latin typeface="Be Vietnam Pro"/>
              </a:rPr>
              <a:t>Truyền thông KH ngoại mạng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86164" y="5641848"/>
            <a:ext cx="27197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A4460"/>
                </a:solidFill>
                <a:latin typeface="Be Vietnam Pro"/>
              </a:rPr>
              <a:t>Đẩy mạnh promo + acquisition cho tệp KH ngoại mạng trên ví VTM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565392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2A0"/>
                </a:solidFill>
                <a:latin typeface="Be Vietnam Pro"/>
              </a:rPr>
              <a:t>Nguồn: VDS deck — SP Payday: Đường tới cột mốc 700 tỷ / tháng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05695" y="656539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Be Vietnam Pro"/>
              </a:rPr>
              <a:t>Slide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